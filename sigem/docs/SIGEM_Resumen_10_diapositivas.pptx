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da19180d-4a47-74e2-03d0-d5e88fe04b9a}">
          <p14:sldIdLst>
            <p14:sldId id="256"/>
          </p14:sldIdLst>
        </p14:section>
        <p14:section name="Contexto" id="{3189b466-fbef-3e78-1442-981439b54c5a}">
          <p14:sldIdLst>
            <p14:sldId id="257"/>
            <p14:sldId id="258"/>
          </p14:sldIdLst>
        </p14:section>
        <p14:section name="Solución" id="{92e23703-04f8-8b02-5530-7f93a90032f6}">
          <p14:sldIdLst>
            <p14:sldId id="259"/>
          </p14:sldIdLst>
        </p14:section>
        <p14:section name="Requisitos" id="{df7a9a09-ec63-71bd-9b6f-ad1479c2d693}">
          <p14:sldIdLst>
            <p14:sldId id="260"/>
            <p14:sldId id="261"/>
          </p14:sldIdLst>
        </p14:section>
        <p14:section name="Desarrollo" id="{5b711f89-6b0c-ea22-9fc8-7810d202d4c1}">
          <p14:sldIdLst>
            <p14:sldId id="262"/>
            <p14:sldId id="263"/>
            <p14:sldId id="264"/>
          </p14:sldIdLst>
        </p14:section>
        <p14:section name="Resultados" id="{afa2bd1f-f00b-6443-ae54-7b5babd9e61b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SIGEM, el Sistema Integral de Gestión de Flotas y Maquinaria que desarrollamos para TRANSUR. En diez diapositivas veremos la empresa, el problema, la solución, su alcance, los requisitos, la arquitectura, cómo se desarrolló y los resultados.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TRANSUR es una empresa de Arequipa con más de doce años en transporte de carga pesada y alquiler de maquinaria. Atiende a constructoras, mineras y gobiernos locales. Se organiza en cinco áreas, y todas usarán SIGEM. Su estrategia es diferenciarse por disponibilidad y confiabilidad, y para eso necesita digitalizar su operación.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Hoy TRANSUR coordina por teléfono y lleva unidades y mantenimientos en cuadernos. Eso causa dobles asignaciones, retrasos, mantenimientos reactivos, facturación imprecisa y falta de historial. Elegimos una aplicación web centralizada, y cada problema tiene su respuesta: validación de conflictos, estado actualizado de cada unidad, planes preventivos con alertas, cálculo automático de horas y kilómetros, y auditoría con reportes.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alcance cubre todo el ciclo: usuarios, flota, comercial, servicios, mantenimiento, almacén, pagos, alertas, auditoría y portal del cliente. Queda fuera la telemetría y el GPS automático, la facturación electrónica y la pasarela de pagos: SIGEM registra los pagos, pero no cobra. Como limitación, trabajamos con datos de demostración.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18 requisitos funcionales se agrupan en acceso y seguridad, flota y comercial, operación, mantenimiento e información. Los críticos son RF009, que impide asignar una unidad a dos servicios a la vez, y RF010, que calcula horas y kilómetros reales. En la versión 3 añadimos pagos, importación desde Excel y respaldos.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diez requisitos no funcionales definen la calidad: seguridad con roles y contraseñas cifradas, metas de respuesta en menos de tres segundos y de compatibilidad con los navegadores habituales, que aún no se midieron porque el prototipo se ejecuta en local, integridad de datos, respaldo diario, auditoría de cada cambio, y una arquitectura mantenible y escalable.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SIGEM es un monolito modular en capas: la vista con Thymeleaf, la cadena de seguridad, los controladores, los servicios con las reglas de negocio, los DAO y PostgreSQL. Aplicamos MVC, DTO, DAO, los principios SOLID y desarrollo guiado por pruebas, con 63 pruebas automatizadas.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Así funciona SIGEM de punta a punta. El cliente pide un servicio desde su portal; Ventas cotiza y, cuando el cliente aprueba, genera el contrato. Operaciones asigna una unidad y un operador, y el sistema impide cruces de horario. Al cerrar el servicio, SIGEM calcula las horas y los kilómetros de uso. Mantenimiento recibe alertas de los preventivos, y finalmente se registra el pago con su recibo.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recorrido real en el código cuando un operador cierra un servicio. El controlador solo recibe el formulario y llama al servicio. El servicio valida que el servicio esté en curso y que las lecturas no bajen, calcula las horas y los kilómetros, y libera la unidad. El repositorio consulta las asignaciones sin escribir SQL a mano. Y la prueba automática confirma que con 1000 y 1008,5 horas el uso es 8,5.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Desarrollamos el proyecto en tres versiones: análisis y diseño, arquitectura con desarrollo y pruebas, y la ampliación con pagos. Seguimos un plan de siete etapas, de agosto a diciembre, con Git y GitHub. El resultado: 18 requisitos funcionales, 63 pruebas automatizadas en verde, 46 tablas en PostgreSQL y 8 roles con su panel. Queda pendiente validarlo con datos reales de TRANSUR y desplegarlo en un servidor, porque hoy se ejecuta en local con datos de demostración. Gracias.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SIGEM · TRANSUR S.A.C. · Curso Integrador I — Grupo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 txBox="1"/>
          <p:nvPr/>
        </p:nvSpPr>
        <p:spPr>
          <a:xfrm>
            <a:off x="640080" y="8229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PRESENTACIÓN GENERAL DEL PROYECTO</a:t>
            </a:r>
            <a:endParaRPr lang="en-US" sz="1400" dirty="0"/>
          </a:p>
        </p:txBody>
      </p:sp>
      <p:sp>
        <p:nvSpPr>
          <p:cNvPr id="3" name="titulo"/>
          <p:cNvSpPr txBox="1"/>
          <p:nvPr/>
        </p:nvSpPr>
        <p:spPr>
          <a:xfrm>
            <a:off x="640080" y="141732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SIGEM</a:t>
            </a:r>
            <a:endParaRPr lang="en-US" sz="7200" dirty="0"/>
          </a:p>
        </p:txBody>
      </p:sp>
      <p:sp>
        <p:nvSpPr>
          <p:cNvPr id="4" name="subtitulo"/>
          <p:cNvSpPr txBox="1"/>
          <p:nvPr/>
        </p:nvSpPr>
        <p:spPr>
          <a:xfrm>
            <a:off x="640080" y="26517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Integral de Gestión de Flotas y Maquinaria</a:t>
            </a:r>
            <a:endParaRPr lang="en-US" sz="2600" dirty="0"/>
          </a:p>
        </p:txBody>
      </p:sp>
      <p:sp>
        <p:nvSpPr>
          <p:cNvPr id="5" name="mensaje"/>
          <p:cNvSpPr txBox="1"/>
          <p:nvPr/>
        </p:nvSpPr>
        <p:spPr>
          <a:xfrm>
            <a:off x="640080" y="370332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Una aplicación web para que TRANSUR sepa, en todo momento, qué unidad está disponible, quién la usa, cuánto se usó y cuándo le toca mantenimiento.</a:t>
            </a:r>
            <a:endParaRPr lang="en-US" sz="1600" dirty="0"/>
          </a:p>
        </p:txBody>
      </p:sp>
      <p:sp>
        <p:nvSpPr>
          <p:cNvPr id="6" name="lugar"/>
          <p:cNvSpPr txBox="1"/>
          <p:nvPr/>
        </p:nvSpPr>
        <p:spPr>
          <a:xfrm>
            <a:off x="640080" y="5806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TRANSUR S.A.C. · Arequipa – Perú · 2026</a:t>
            </a:r>
            <a:endParaRPr lang="en-US" sz="1400" dirty="0"/>
          </a:p>
        </p:txBody>
      </p:sp>
      <p:sp>
        <p:nvSpPr>
          <p:cNvPr id="7" name="tarjeta datos"/>
          <p:cNvSpPr/>
          <p:nvPr/>
        </p:nvSpPr>
        <p:spPr>
          <a:xfrm>
            <a:off x="7589520" y="685800"/>
            <a:ext cx="3977640" cy="5486400"/>
          </a:xfrm>
          <a:prstGeom prst="roundRect">
            <a:avLst>
              <a:gd name="adj" fmla="val 27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pic>
        <p:nvPicPr>
          <p:cNvPr id="8" name="logo UTP" descr="/tmp/claude-0/-home-user-Sigem-Proyect/d0cfea49-2aed-54b6-8bc8-7e1babbccb9a/scratchpad/un/word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960120"/>
            <a:ext cx="2194560" cy="480713"/>
          </a:xfrm>
          <a:prstGeom prst="rect">
            <a:avLst/>
          </a:prstGeom>
        </p:spPr>
      </p:pic>
      <p:sp>
        <p:nvSpPr>
          <p:cNvPr id="9" name="curso"/>
          <p:cNvSpPr txBox="1"/>
          <p:nvPr/>
        </p:nvSpPr>
        <p:spPr>
          <a:xfrm>
            <a:off x="7909560" y="15544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Facultad de Ingeniería · Curso Integrador I: Sistemas – Software</a:t>
            </a:r>
            <a:endParaRPr lang="en-US" sz="1100" dirty="0"/>
          </a:p>
        </p:txBody>
      </p:sp>
      <p:sp>
        <p:nvSpPr>
          <p:cNvPr id="10" name="integrantes titulo"/>
          <p:cNvSpPr txBox="1"/>
          <p:nvPr/>
        </p:nvSpPr>
        <p:spPr>
          <a:xfrm>
            <a:off x="7909560" y="2240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INTEGRANTES</a:t>
            </a:r>
            <a:endParaRPr lang="en-US" sz="1300" dirty="0"/>
          </a:p>
        </p:txBody>
      </p:sp>
      <p:sp>
        <p:nvSpPr>
          <p:cNvPr id="11" name="integrante 1"/>
          <p:cNvSpPr txBox="1"/>
          <p:nvPr/>
        </p:nvSpPr>
        <p:spPr>
          <a:xfrm>
            <a:off x="7909560" y="265176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Mamani Vargas, Abel Valerio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CUI U21304236</a:t>
            </a:r>
            <a:endParaRPr lang="en-US" sz="1400" dirty="0"/>
          </a:p>
        </p:txBody>
      </p:sp>
      <p:sp>
        <p:nvSpPr>
          <p:cNvPr id="12" name="integrante 2"/>
          <p:cNvSpPr txBox="1"/>
          <p:nvPr/>
        </p:nvSpPr>
        <p:spPr>
          <a:xfrm>
            <a:off x="7909560" y="3310128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Rodriguez Huillca, Juan Ronaldo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CUI U22207879</a:t>
            </a:r>
            <a:endParaRPr lang="en-US" sz="1400" dirty="0"/>
          </a:p>
        </p:txBody>
      </p:sp>
      <p:sp>
        <p:nvSpPr>
          <p:cNvPr id="13" name="docente"/>
          <p:cNvSpPr txBox="1"/>
          <p:nvPr/>
        </p:nvSpPr>
        <p:spPr>
          <a:xfrm>
            <a:off x="7909560" y="475488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DOCENTE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MBA Mg. Ing. René Alonso Nieto Valencia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Ciclo 06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empresa: TRANSUR S.A.C.</a:t>
            </a:r>
            <a:endParaRPr lang="en-US" sz="3000" dirty="0"/>
          </a:p>
        </p:txBody>
      </p:sp>
      <p:sp>
        <p:nvSpPr>
          <p:cNvPr id="3" name="descripcion empresa"/>
          <p:cNvSpPr txBox="1"/>
          <p:nvPr/>
        </p:nvSpPr>
        <p:spPr>
          <a:xfrm>
            <a:off x="548640" y="132588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Empresa arequipeña con más de 12 años de operación.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Flota: camiones de carga, volquetes, cisternas, excavadoras, cargadores frontales, retroexcavadoras y compactadoras.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Clientes: empresas constructoras, contratistas mineros y gobiernos locales.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Visión 2030: ser la empresa líder del sur del Perú por su eficiencia, trazabilidad y confiabilidad.</a:t>
            </a:r>
            <a:endParaRPr lang="en-US" sz="1600" dirty="0"/>
          </a:p>
        </p:txBody>
      </p:sp>
      <p:sp>
        <p:nvSpPr>
          <p:cNvPr id="4" name="tarjeta estrategia"/>
          <p:cNvSpPr/>
          <p:nvPr/>
        </p:nvSpPr>
        <p:spPr>
          <a:xfrm>
            <a:off x="548640" y="4800600"/>
            <a:ext cx="5120640" cy="1371600"/>
          </a:xfrm>
          <a:prstGeom prst="roundRect">
            <a:avLst>
              <a:gd name="adj" fmla="val 666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" name="estrategia"/>
          <p:cNvSpPr txBox="1"/>
          <p:nvPr/>
        </p:nvSpPr>
        <p:spPr>
          <a:xfrm>
            <a:off x="777240" y="493776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Estrategia: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diferenciarse por calidad y disponibilidad. La digitalización es la palanca para reducir tiempos muertos y evitar conflictos de asignación.</a:t>
            </a:r>
            <a:endParaRPr lang="en-US" sz="1400" dirty="0"/>
          </a:p>
        </p:txBody>
      </p:sp>
      <p:sp>
        <p:nvSpPr>
          <p:cNvPr id="6" name="areas titulo"/>
          <p:cNvSpPr txBox="1"/>
          <p:nvPr/>
        </p:nvSpPr>
        <p:spPr>
          <a:xfrm>
            <a:off x="6309360" y="1325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Áreas que usarán el sistema</a:t>
            </a:r>
            <a:endParaRPr lang="en-US" sz="1600" dirty="0"/>
          </a:p>
        </p:txBody>
      </p:sp>
      <p:sp>
        <p:nvSpPr>
          <p:cNvPr id="7" name="area Operaciones círculo"/>
          <p:cNvSpPr/>
          <p:nvPr/>
        </p:nvSpPr>
        <p:spPr>
          <a:xfrm>
            <a:off x="6309360" y="1828800"/>
            <a:ext cx="640080" cy="640080"/>
          </a:xfrm>
          <a:prstGeom prst="ellipse">
            <a:avLst/>
          </a:prstGeom>
          <a:solidFill>
            <a:srgbClr val="2F6F8F"/>
          </a:solidFill>
          <a:ln w="12700">
            <a:solidFill>
              <a:srgbClr val="2F6F8F"/>
            </a:solidFill>
            <a:prstDash val="solid"/>
          </a:ln>
        </p:spPr>
      </p:sp>
      <p:pic>
        <p:nvPicPr>
          <p:cNvPr id="8" name="area Operaciones 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2979" y="1982419"/>
            <a:ext cx="332842" cy="332842"/>
          </a:xfrm>
          <a:prstGeom prst="rect">
            <a:avLst/>
          </a:prstGeom>
        </p:spPr>
      </p:pic>
      <p:sp>
        <p:nvSpPr>
          <p:cNvPr id="9" name="area texto Operaciones"/>
          <p:cNvSpPr txBox="1"/>
          <p:nvPr/>
        </p:nvSpPr>
        <p:spPr>
          <a:xfrm>
            <a:off x="7132320" y="17830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Operaciones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Planifica rutas, programa servicios y asigna unidades</a:t>
            </a:r>
            <a:endParaRPr lang="en-US" sz="1500" dirty="0"/>
          </a:p>
        </p:txBody>
      </p:sp>
      <p:sp>
        <p:nvSpPr>
          <p:cNvPr id="10" name="area Mantenimiento círculo"/>
          <p:cNvSpPr/>
          <p:nvPr/>
        </p:nvSpPr>
        <p:spPr>
          <a:xfrm>
            <a:off x="6309360" y="2697480"/>
            <a:ext cx="640080" cy="64008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11" name="area Mantenimiento 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2979" y="2851099"/>
            <a:ext cx="332842" cy="332842"/>
          </a:xfrm>
          <a:prstGeom prst="rect">
            <a:avLst/>
          </a:prstGeom>
        </p:spPr>
      </p:pic>
      <p:sp>
        <p:nvSpPr>
          <p:cNvPr id="12" name="area texto Mantenimiento"/>
          <p:cNvSpPr txBox="1"/>
          <p:nvPr/>
        </p:nvSpPr>
        <p:spPr>
          <a:xfrm>
            <a:off x="7132320" y="26517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Mantenimiento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Revisiones preventivas y reparaciones correctivas</a:t>
            </a:r>
            <a:endParaRPr lang="en-US" sz="1500" dirty="0"/>
          </a:p>
        </p:txBody>
      </p:sp>
      <p:sp>
        <p:nvSpPr>
          <p:cNvPr id="13" name="area Comercial círculo"/>
          <p:cNvSpPr/>
          <p:nvPr/>
        </p:nvSpPr>
        <p:spPr>
          <a:xfrm>
            <a:off x="6309360" y="3566160"/>
            <a:ext cx="640080" cy="640080"/>
          </a:xfrm>
          <a:prstGeom prst="ellipse">
            <a:avLst/>
          </a:prstGeom>
          <a:solidFill>
            <a:srgbClr val="4C9A6A"/>
          </a:solidFill>
          <a:ln w="12700">
            <a:solidFill>
              <a:srgbClr val="4C9A6A"/>
            </a:solidFill>
            <a:prstDash val="solid"/>
          </a:ln>
        </p:spPr>
      </p:sp>
      <p:pic>
        <p:nvPicPr>
          <p:cNvPr id="14" name="area Comercial 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979" y="3719779"/>
            <a:ext cx="332842" cy="332842"/>
          </a:xfrm>
          <a:prstGeom prst="rect">
            <a:avLst/>
          </a:prstGeom>
        </p:spPr>
      </p:pic>
      <p:sp>
        <p:nvSpPr>
          <p:cNvPr id="15" name="area texto Comercial"/>
          <p:cNvSpPr txBox="1"/>
          <p:nvPr/>
        </p:nvSpPr>
        <p:spPr>
          <a:xfrm>
            <a:off x="7132320" y="352044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Comercial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Solicitudes, cotizaciones y contratos</a:t>
            </a:r>
            <a:endParaRPr lang="en-US" sz="1500" dirty="0"/>
          </a:p>
        </p:txBody>
      </p:sp>
      <p:sp>
        <p:nvSpPr>
          <p:cNvPr id="16" name="area Administración y logística círculo"/>
          <p:cNvSpPr/>
          <p:nvPr/>
        </p:nvSpPr>
        <p:spPr>
          <a:xfrm>
            <a:off x="6309360" y="4434840"/>
            <a:ext cx="640080" cy="640080"/>
          </a:xfrm>
          <a:prstGeom prst="ellipse">
            <a:avLst/>
          </a:prstGeom>
          <a:solidFill>
            <a:srgbClr val="6B5CA5"/>
          </a:solidFill>
          <a:ln w="12700">
            <a:solidFill>
              <a:srgbClr val="6B5CA5"/>
            </a:solidFill>
            <a:prstDash val="solid"/>
          </a:ln>
        </p:spPr>
      </p:sp>
      <p:pic>
        <p:nvPicPr>
          <p:cNvPr id="17" name="area Administración y logística i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2979" y="4588459"/>
            <a:ext cx="332842" cy="332842"/>
          </a:xfrm>
          <a:prstGeom prst="rect">
            <a:avLst/>
          </a:prstGeom>
        </p:spPr>
      </p:pic>
      <p:sp>
        <p:nvSpPr>
          <p:cNvPr id="18" name="area texto Administración y logística"/>
          <p:cNvSpPr txBox="1"/>
          <p:nvPr/>
        </p:nvSpPr>
        <p:spPr>
          <a:xfrm>
            <a:off x="7132320" y="43891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Administración y logística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Compras, documentos y soporte a la facturación</a:t>
            </a:r>
            <a:endParaRPr lang="en-US" sz="1500" dirty="0"/>
          </a:p>
        </p:txBody>
      </p:sp>
      <p:sp>
        <p:nvSpPr>
          <p:cNvPr id="19" name="area Recursos humanos círculo"/>
          <p:cNvSpPr/>
          <p:nvPr/>
        </p:nvSpPr>
        <p:spPr>
          <a:xfrm>
            <a:off x="6309360" y="5303520"/>
            <a:ext cx="640080" cy="640080"/>
          </a:xfrm>
          <a:prstGeom prst="ellipse">
            <a:avLst/>
          </a:prstGeom>
          <a:solidFill>
            <a:srgbClr val="3A4757"/>
          </a:solidFill>
          <a:ln w="12700">
            <a:solidFill>
              <a:srgbClr val="3A4757"/>
            </a:solidFill>
            <a:prstDash val="solid"/>
          </a:ln>
        </p:spPr>
      </p:sp>
      <p:pic>
        <p:nvPicPr>
          <p:cNvPr id="20" name="area Recursos humanos i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2979" y="5457139"/>
            <a:ext cx="332842" cy="332842"/>
          </a:xfrm>
          <a:prstGeom prst="rect">
            <a:avLst/>
          </a:prstGeom>
        </p:spPr>
      </p:pic>
      <p:sp>
        <p:nvSpPr>
          <p:cNvPr id="21" name="area texto Recursos humanos"/>
          <p:cNvSpPr txBox="1"/>
          <p:nvPr/>
        </p:nvSpPr>
        <p:spPr>
          <a:xfrm>
            <a:off x="7132320" y="52578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Recursos humanos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Personal, licencias y documentos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 y nuestra solución</a:t>
            </a:r>
            <a:endParaRPr lang="en-US" sz="3000" dirty="0"/>
          </a:p>
        </p:txBody>
      </p:sp>
      <p:sp>
        <p:nvSpPr>
          <p:cNvPr id="3" name="tarjeta hoy"/>
          <p:cNvSpPr/>
          <p:nvPr/>
        </p:nvSpPr>
        <p:spPr>
          <a:xfrm>
            <a:off x="548640" y="128016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4" name="hoy"/>
          <p:cNvSpPr txBox="1"/>
          <p:nvPr/>
        </p:nvSpPr>
        <p:spPr>
          <a:xfrm>
            <a:off x="777240" y="137160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HOY</a:t>
            </a:r>
            <a:endParaRPr lang="en-US" sz="13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Coordinación por teléfono y mensajería; unidades y mantenimientos anotados en cuadernos y archivos sueltos.</a:t>
            </a:r>
            <a:endParaRPr lang="en-US" sz="1300" dirty="0"/>
          </a:p>
        </p:txBody>
      </p:sp>
      <p:sp>
        <p:nvSpPr>
          <p:cNvPr id="5" name="tarjeta sigem"/>
          <p:cNvSpPr/>
          <p:nvPr/>
        </p:nvSpPr>
        <p:spPr>
          <a:xfrm>
            <a:off x="6263640" y="1280160"/>
            <a:ext cx="5349240" cy="1234440"/>
          </a:xfrm>
          <a:prstGeom prst="roundRect">
            <a:avLst>
              <a:gd name="adj" fmla="val 7407"/>
            </a:avLst>
          </a:prstGeom>
          <a:solidFill>
            <a:srgbClr val="2F6F8F"/>
          </a:solidFill>
          <a:ln w="12700">
            <a:solidFill>
              <a:srgbClr val="2F6F8F"/>
            </a:solidFill>
            <a:prstDash val="solid"/>
          </a:ln>
        </p:spPr>
      </p:sp>
      <p:sp>
        <p:nvSpPr>
          <p:cNvPr id="6" name="con sigem"/>
          <p:cNvSpPr txBox="1"/>
          <p:nvPr/>
        </p:nvSpPr>
        <p:spPr>
          <a:xfrm>
            <a:off x="6492240" y="137160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CON SIGEM</a:t>
            </a:r>
            <a:endParaRPr lang="en-US" sz="13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Una aplicación web única (elegida frente a escritorio y microservicios), donde cada área entra con su rol.</a:t>
            </a:r>
            <a:endParaRPr lang="en-US" sz="1300" dirty="0"/>
          </a:p>
        </p:txBody>
      </p:sp>
      <p:sp>
        <p:nvSpPr>
          <p:cNvPr id="7" name="col problema"/>
          <p:cNvSpPr txBox="1"/>
          <p:nvPr/>
        </p:nvSpPr>
        <p:spPr>
          <a:xfrm>
            <a:off x="548640" y="26974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Efecto en el negocio</a:t>
            </a:r>
            <a:endParaRPr lang="en-US" sz="1400" dirty="0"/>
          </a:p>
        </p:txBody>
      </p:sp>
      <p:sp>
        <p:nvSpPr>
          <p:cNvPr id="8" name="col solucion"/>
          <p:cNvSpPr txBox="1"/>
          <p:nvPr/>
        </p:nvSpPr>
        <p:spPr>
          <a:xfrm>
            <a:off x="6263640" y="26974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Cómo lo resuelve SIGEM</a:t>
            </a:r>
            <a:endParaRPr lang="en-US" sz="1400" dirty="0"/>
          </a:p>
        </p:txBody>
      </p:sp>
      <p:sp>
        <p:nvSpPr>
          <p:cNvPr id="9" name="problema fila 0"/>
          <p:cNvSpPr/>
          <p:nvPr/>
        </p:nvSpPr>
        <p:spPr>
          <a:xfrm>
            <a:off x="548640" y="3108960"/>
            <a:ext cx="5349240" cy="548640"/>
          </a:xfrm>
          <a:prstGeom prst="roundRect">
            <a:avLst>
              <a:gd name="adj" fmla="val 1666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0" name="problema icono 0 círculo"/>
          <p:cNvSpPr/>
          <p:nvPr/>
        </p:nvSpPr>
        <p:spPr>
          <a:xfrm>
            <a:off x="640080" y="3172968"/>
            <a:ext cx="420624" cy="420624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11" name="problema icono 0 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030" y="3273918"/>
            <a:ext cx="218724" cy="218724"/>
          </a:xfrm>
          <a:prstGeom prst="rect">
            <a:avLst/>
          </a:prstGeom>
        </p:spPr>
      </p:pic>
      <p:sp>
        <p:nvSpPr>
          <p:cNvPr id="12" name="problema texto 0"/>
          <p:cNvSpPr txBox="1"/>
          <p:nvPr/>
        </p:nvSpPr>
        <p:spPr>
          <a:xfrm>
            <a:off x="1188720" y="310896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Doble asignación de unidades u operadores</a:t>
            </a:r>
            <a:endParaRPr lang="en-US" sz="1400" dirty="0"/>
          </a:p>
        </p:txBody>
      </p:sp>
      <p:sp>
        <p:nvSpPr>
          <p:cNvPr id="13" name="flecha 0"/>
          <p:cNvSpPr txBox="1"/>
          <p:nvPr/>
        </p:nvSpPr>
        <p:spPr>
          <a:xfrm>
            <a:off x="5897880" y="31089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olucion fila 0"/>
          <p:cNvSpPr/>
          <p:nvPr/>
        </p:nvSpPr>
        <p:spPr>
          <a:xfrm>
            <a:off x="6263640" y="3108960"/>
            <a:ext cx="5349240" cy="548640"/>
          </a:xfrm>
          <a:prstGeom prst="roundRect">
            <a:avLst>
              <a:gd name="adj" fmla="val 1666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5" name="solucion icono 0 círculo"/>
          <p:cNvSpPr/>
          <p:nvPr/>
        </p:nvSpPr>
        <p:spPr>
          <a:xfrm>
            <a:off x="6355080" y="3172968"/>
            <a:ext cx="420624" cy="420624"/>
          </a:xfrm>
          <a:prstGeom prst="ellipse">
            <a:avLst/>
          </a:prstGeom>
          <a:solidFill>
            <a:srgbClr val="4C9A6A"/>
          </a:solidFill>
          <a:ln w="12700">
            <a:solidFill>
              <a:srgbClr val="4C9A6A"/>
            </a:solidFill>
            <a:prstDash val="solid"/>
          </a:ln>
        </p:spPr>
      </p:sp>
      <p:pic>
        <p:nvPicPr>
          <p:cNvPr id="16" name="solucion icono 0 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030" y="3273918"/>
            <a:ext cx="218724" cy="218724"/>
          </a:xfrm>
          <a:prstGeom prst="rect">
            <a:avLst/>
          </a:prstGeom>
        </p:spPr>
      </p:pic>
      <p:sp>
        <p:nvSpPr>
          <p:cNvPr id="17" name="solucion texto 0"/>
          <p:cNvSpPr txBox="1"/>
          <p:nvPr/>
        </p:nvSpPr>
        <p:spPr>
          <a:xfrm>
            <a:off x="6903720" y="310896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Validación de conflictos al asignar (RF009)</a:t>
            </a:r>
            <a:endParaRPr lang="en-US" sz="1400" dirty="0"/>
          </a:p>
        </p:txBody>
      </p:sp>
      <p:sp>
        <p:nvSpPr>
          <p:cNvPr id="18" name="problema fila 1"/>
          <p:cNvSpPr/>
          <p:nvPr/>
        </p:nvSpPr>
        <p:spPr>
          <a:xfrm>
            <a:off x="548640" y="3749040"/>
            <a:ext cx="5349240" cy="548640"/>
          </a:xfrm>
          <a:prstGeom prst="roundRect">
            <a:avLst>
              <a:gd name="adj" fmla="val 1666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9" name="problema icono 1 círculo"/>
          <p:cNvSpPr/>
          <p:nvPr/>
        </p:nvSpPr>
        <p:spPr>
          <a:xfrm>
            <a:off x="640080" y="3813048"/>
            <a:ext cx="420624" cy="420624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20" name="problema icono 1 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30" y="3913998"/>
            <a:ext cx="218724" cy="218724"/>
          </a:xfrm>
          <a:prstGeom prst="rect">
            <a:avLst/>
          </a:prstGeom>
        </p:spPr>
      </p:pic>
      <p:sp>
        <p:nvSpPr>
          <p:cNvPr id="21" name="problema texto 1"/>
          <p:cNvSpPr txBox="1"/>
          <p:nvPr/>
        </p:nvSpPr>
        <p:spPr>
          <a:xfrm>
            <a:off x="1188720" y="374904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Retrasos: no se sabe qué está disponible</a:t>
            </a:r>
            <a:endParaRPr lang="en-US" sz="1400" dirty="0"/>
          </a:p>
        </p:txBody>
      </p:sp>
      <p:sp>
        <p:nvSpPr>
          <p:cNvPr id="22" name="flecha 1"/>
          <p:cNvSpPr txBox="1"/>
          <p:nvPr/>
        </p:nvSpPr>
        <p:spPr>
          <a:xfrm>
            <a:off x="5897880" y="37490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olucion fila 1"/>
          <p:cNvSpPr/>
          <p:nvPr/>
        </p:nvSpPr>
        <p:spPr>
          <a:xfrm>
            <a:off x="6263640" y="3749040"/>
            <a:ext cx="5349240" cy="548640"/>
          </a:xfrm>
          <a:prstGeom prst="roundRect">
            <a:avLst>
              <a:gd name="adj" fmla="val 1666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4" name="solucion icono 1 círculo"/>
          <p:cNvSpPr/>
          <p:nvPr/>
        </p:nvSpPr>
        <p:spPr>
          <a:xfrm>
            <a:off x="6355080" y="3813048"/>
            <a:ext cx="420624" cy="420624"/>
          </a:xfrm>
          <a:prstGeom prst="ellipse">
            <a:avLst/>
          </a:prstGeom>
          <a:solidFill>
            <a:srgbClr val="4C9A6A"/>
          </a:solidFill>
          <a:ln w="12700">
            <a:solidFill>
              <a:srgbClr val="4C9A6A"/>
            </a:solidFill>
            <a:prstDash val="solid"/>
          </a:ln>
        </p:spPr>
      </p:sp>
      <p:pic>
        <p:nvPicPr>
          <p:cNvPr id="25" name="solucion icono 1 i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6030" y="3913998"/>
            <a:ext cx="218724" cy="218724"/>
          </a:xfrm>
          <a:prstGeom prst="rect">
            <a:avLst/>
          </a:prstGeom>
        </p:spPr>
      </p:pic>
      <p:sp>
        <p:nvSpPr>
          <p:cNvPr id="26" name="solucion texto 1"/>
          <p:cNvSpPr txBox="1"/>
          <p:nvPr/>
        </p:nvSpPr>
        <p:spPr>
          <a:xfrm>
            <a:off x="6903720" y="374904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Estado actualizado de cada unidad (RF004)</a:t>
            </a:r>
            <a:endParaRPr lang="en-US" sz="1400" dirty="0"/>
          </a:p>
        </p:txBody>
      </p:sp>
      <p:sp>
        <p:nvSpPr>
          <p:cNvPr id="27" name="problema fila 2"/>
          <p:cNvSpPr/>
          <p:nvPr/>
        </p:nvSpPr>
        <p:spPr>
          <a:xfrm>
            <a:off x="548640" y="4389120"/>
            <a:ext cx="5349240" cy="548640"/>
          </a:xfrm>
          <a:prstGeom prst="roundRect">
            <a:avLst>
              <a:gd name="adj" fmla="val 1666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8" name="problema icono 2 círculo"/>
          <p:cNvSpPr/>
          <p:nvPr/>
        </p:nvSpPr>
        <p:spPr>
          <a:xfrm>
            <a:off x="640080" y="4453128"/>
            <a:ext cx="420624" cy="420624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29" name="problema icono 2 i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030" y="4554078"/>
            <a:ext cx="218724" cy="218724"/>
          </a:xfrm>
          <a:prstGeom prst="rect">
            <a:avLst/>
          </a:prstGeom>
        </p:spPr>
      </p:pic>
      <p:sp>
        <p:nvSpPr>
          <p:cNvPr id="30" name="problema texto 2"/>
          <p:cNvSpPr txBox="1"/>
          <p:nvPr/>
        </p:nvSpPr>
        <p:spPr>
          <a:xfrm>
            <a:off x="1188720" y="43891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Mantenimiento reactivo, unidades paradas</a:t>
            </a:r>
            <a:endParaRPr lang="en-US" sz="1400" dirty="0"/>
          </a:p>
        </p:txBody>
      </p:sp>
      <p:sp>
        <p:nvSpPr>
          <p:cNvPr id="31" name="flecha 2"/>
          <p:cNvSpPr txBox="1"/>
          <p:nvPr/>
        </p:nvSpPr>
        <p:spPr>
          <a:xfrm>
            <a:off x="5897880" y="43891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32" name="solucion fila 2"/>
          <p:cNvSpPr/>
          <p:nvPr/>
        </p:nvSpPr>
        <p:spPr>
          <a:xfrm>
            <a:off x="6263640" y="4389120"/>
            <a:ext cx="5349240" cy="548640"/>
          </a:xfrm>
          <a:prstGeom prst="roundRect">
            <a:avLst>
              <a:gd name="adj" fmla="val 1666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3" name="solucion icono 2 círculo"/>
          <p:cNvSpPr/>
          <p:nvPr/>
        </p:nvSpPr>
        <p:spPr>
          <a:xfrm>
            <a:off x="6355080" y="4453128"/>
            <a:ext cx="420624" cy="420624"/>
          </a:xfrm>
          <a:prstGeom prst="ellipse">
            <a:avLst/>
          </a:prstGeom>
          <a:solidFill>
            <a:srgbClr val="4C9A6A"/>
          </a:solidFill>
          <a:ln w="12700">
            <a:solidFill>
              <a:srgbClr val="4C9A6A"/>
            </a:solidFill>
            <a:prstDash val="solid"/>
          </a:ln>
        </p:spPr>
      </p:sp>
      <p:pic>
        <p:nvPicPr>
          <p:cNvPr id="34" name="solucion icono 2 icono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6030" y="4554078"/>
            <a:ext cx="218724" cy="218724"/>
          </a:xfrm>
          <a:prstGeom prst="rect">
            <a:avLst/>
          </a:prstGeom>
        </p:spPr>
      </p:pic>
      <p:sp>
        <p:nvSpPr>
          <p:cNvPr id="35" name="solucion texto 2"/>
          <p:cNvSpPr txBox="1"/>
          <p:nvPr/>
        </p:nvSpPr>
        <p:spPr>
          <a:xfrm>
            <a:off x="6903720" y="43891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Planes preventivos y alertas automáticas (RF012, RF014)</a:t>
            </a:r>
            <a:endParaRPr lang="en-US" sz="1400" dirty="0"/>
          </a:p>
        </p:txBody>
      </p:sp>
      <p:sp>
        <p:nvSpPr>
          <p:cNvPr id="36" name="problema fila 3"/>
          <p:cNvSpPr/>
          <p:nvPr/>
        </p:nvSpPr>
        <p:spPr>
          <a:xfrm>
            <a:off x="548640" y="5029200"/>
            <a:ext cx="5349240" cy="548640"/>
          </a:xfrm>
          <a:prstGeom prst="roundRect">
            <a:avLst>
              <a:gd name="adj" fmla="val 1666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7" name="problema icono 3 círculo"/>
          <p:cNvSpPr/>
          <p:nvPr/>
        </p:nvSpPr>
        <p:spPr>
          <a:xfrm>
            <a:off x="640080" y="5093208"/>
            <a:ext cx="420624" cy="420624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38" name="problema icono 3 icono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030" y="5194158"/>
            <a:ext cx="218724" cy="218724"/>
          </a:xfrm>
          <a:prstGeom prst="rect">
            <a:avLst/>
          </a:prstGeom>
        </p:spPr>
      </p:pic>
      <p:sp>
        <p:nvSpPr>
          <p:cNvPr id="39" name="problema texto 3"/>
          <p:cNvSpPr txBox="1"/>
          <p:nvPr/>
        </p:nvSpPr>
        <p:spPr>
          <a:xfrm>
            <a:off x="1188720" y="502920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Facturación imprecisa de horas y km</a:t>
            </a:r>
            <a:endParaRPr lang="en-US" sz="1400" dirty="0"/>
          </a:p>
        </p:txBody>
      </p:sp>
      <p:sp>
        <p:nvSpPr>
          <p:cNvPr id="40" name="flecha 3"/>
          <p:cNvSpPr txBox="1"/>
          <p:nvPr/>
        </p:nvSpPr>
        <p:spPr>
          <a:xfrm>
            <a:off x="5897880" y="50292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41" name="solucion fila 3"/>
          <p:cNvSpPr/>
          <p:nvPr/>
        </p:nvSpPr>
        <p:spPr>
          <a:xfrm>
            <a:off x="6263640" y="5029200"/>
            <a:ext cx="5349240" cy="548640"/>
          </a:xfrm>
          <a:prstGeom prst="roundRect">
            <a:avLst>
              <a:gd name="adj" fmla="val 1666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2" name="solucion icono 3 círculo"/>
          <p:cNvSpPr/>
          <p:nvPr/>
        </p:nvSpPr>
        <p:spPr>
          <a:xfrm>
            <a:off x="6355080" y="5093208"/>
            <a:ext cx="420624" cy="420624"/>
          </a:xfrm>
          <a:prstGeom prst="ellipse">
            <a:avLst/>
          </a:prstGeom>
          <a:solidFill>
            <a:srgbClr val="4C9A6A"/>
          </a:solidFill>
          <a:ln w="12700">
            <a:solidFill>
              <a:srgbClr val="4C9A6A"/>
            </a:solidFill>
            <a:prstDash val="solid"/>
          </a:ln>
        </p:spPr>
      </p:sp>
      <p:pic>
        <p:nvPicPr>
          <p:cNvPr id="43" name="solucion icono 3 icono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6030" y="5194158"/>
            <a:ext cx="218724" cy="218724"/>
          </a:xfrm>
          <a:prstGeom prst="rect">
            <a:avLst/>
          </a:prstGeom>
        </p:spPr>
      </p:pic>
      <p:sp>
        <p:nvSpPr>
          <p:cNvPr id="44" name="solucion texto 3"/>
          <p:cNvSpPr txBox="1"/>
          <p:nvPr/>
        </p:nvSpPr>
        <p:spPr>
          <a:xfrm>
            <a:off x="6903720" y="502920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Horas y km calculados al cerrar el servicio (RF010)</a:t>
            </a:r>
            <a:endParaRPr lang="en-US" sz="1400" dirty="0"/>
          </a:p>
        </p:txBody>
      </p:sp>
      <p:sp>
        <p:nvSpPr>
          <p:cNvPr id="45" name="problema fila 4"/>
          <p:cNvSpPr/>
          <p:nvPr/>
        </p:nvSpPr>
        <p:spPr>
          <a:xfrm>
            <a:off x="548640" y="5669280"/>
            <a:ext cx="5349240" cy="548640"/>
          </a:xfrm>
          <a:prstGeom prst="roundRect">
            <a:avLst>
              <a:gd name="adj" fmla="val 1666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6" name="problema icono 4 círculo"/>
          <p:cNvSpPr/>
          <p:nvPr/>
        </p:nvSpPr>
        <p:spPr>
          <a:xfrm>
            <a:off x="640080" y="5733288"/>
            <a:ext cx="420624" cy="420624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47" name="problema icono 4 icono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1030" y="5834238"/>
            <a:ext cx="218724" cy="218724"/>
          </a:xfrm>
          <a:prstGeom prst="rect">
            <a:avLst/>
          </a:prstGeom>
        </p:spPr>
      </p:pic>
      <p:sp>
        <p:nvSpPr>
          <p:cNvPr id="48" name="problema texto 4"/>
          <p:cNvSpPr txBox="1"/>
          <p:nvPr/>
        </p:nvSpPr>
        <p:spPr>
          <a:xfrm>
            <a:off x="1188720" y="566928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Sin historial para decidir</a:t>
            </a:r>
            <a:endParaRPr lang="en-US" sz="1400" dirty="0"/>
          </a:p>
        </p:txBody>
      </p:sp>
      <p:sp>
        <p:nvSpPr>
          <p:cNvPr id="49" name="flecha 4"/>
          <p:cNvSpPr txBox="1"/>
          <p:nvPr/>
        </p:nvSpPr>
        <p:spPr>
          <a:xfrm>
            <a:off x="5897880" y="56692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50" name="solucion fila 4"/>
          <p:cNvSpPr/>
          <p:nvPr/>
        </p:nvSpPr>
        <p:spPr>
          <a:xfrm>
            <a:off x="6263640" y="5669280"/>
            <a:ext cx="5349240" cy="548640"/>
          </a:xfrm>
          <a:prstGeom prst="roundRect">
            <a:avLst>
              <a:gd name="adj" fmla="val 1666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1" name="solucion icono 4 círculo"/>
          <p:cNvSpPr/>
          <p:nvPr/>
        </p:nvSpPr>
        <p:spPr>
          <a:xfrm>
            <a:off x="6355080" y="5733288"/>
            <a:ext cx="420624" cy="420624"/>
          </a:xfrm>
          <a:prstGeom prst="ellipse">
            <a:avLst/>
          </a:prstGeom>
          <a:solidFill>
            <a:srgbClr val="4C9A6A"/>
          </a:solidFill>
          <a:ln w="12700">
            <a:solidFill>
              <a:srgbClr val="4C9A6A"/>
            </a:solidFill>
            <a:prstDash val="solid"/>
          </a:ln>
        </p:spPr>
      </p:sp>
      <p:pic>
        <p:nvPicPr>
          <p:cNvPr id="52" name="solucion icono 4 icono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56030" y="5834238"/>
            <a:ext cx="218724" cy="218724"/>
          </a:xfrm>
          <a:prstGeom prst="rect">
            <a:avLst/>
          </a:prstGeom>
        </p:spPr>
      </p:pic>
      <p:sp>
        <p:nvSpPr>
          <p:cNvPr id="53" name="solucion texto 4"/>
          <p:cNvSpPr txBox="1"/>
          <p:nvPr/>
        </p:nvSpPr>
        <p:spPr>
          <a:xfrm>
            <a:off x="6903720" y="566928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Auditoría, dashboard y reportes Excel/PDF (RF015–RF018)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Alcance y limitaciones</a:t>
            </a:r>
            <a:endParaRPr lang="en-US" sz="3000" dirty="0"/>
          </a:p>
        </p:txBody>
      </p:sp>
      <p:sp>
        <p:nvSpPr>
          <p:cNvPr id="3" name="columna Dentro del alcance"/>
          <p:cNvSpPr/>
          <p:nvPr/>
        </p:nvSpPr>
        <p:spPr>
          <a:xfrm>
            <a:off x="548640" y="1325880"/>
            <a:ext cx="3520440" cy="4846320"/>
          </a:xfrm>
          <a:prstGeom prst="roundRect">
            <a:avLst>
              <a:gd name="adj" fmla="val 259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" name="columna icono Dentro del alcance círculo"/>
          <p:cNvSpPr/>
          <p:nvPr/>
        </p:nvSpPr>
        <p:spPr>
          <a:xfrm>
            <a:off x="777240" y="1508760"/>
            <a:ext cx="548640" cy="548640"/>
          </a:xfrm>
          <a:prstGeom prst="ellipse">
            <a:avLst/>
          </a:prstGeom>
          <a:solidFill>
            <a:srgbClr val="4C9A6A"/>
          </a:solidFill>
          <a:ln w="12700">
            <a:solidFill>
              <a:srgbClr val="4C9A6A"/>
            </a:solidFill>
            <a:prstDash val="solid"/>
          </a:ln>
        </p:spPr>
      </p:sp>
      <p:pic>
        <p:nvPicPr>
          <p:cNvPr id="5" name="columna icono Dentro del alcance 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640434"/>
            <a:ext cx="285293" cy="285293"/>
          </a:xfrm>
          <a:prstGeom prst="rect">
            <a:avLst/>
          </a:prstGeom>
        </p:spPr>
      </p:pic>
      <p:sp>
        <p:nvSpPr>
          <p:cNvPr id="6" name="columna titulo Dentro del alcance"/>
          <p:cNvSpPr txBox="1"/>
          <p:nvPr/>
        </p:nvSpPr>
        <p:spPr>
          <a:xfrm>
            <a:off x="1463040" y="1508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Dentro del alcance</a:t>
            </a:r>
            <a:endParaRPr lang="en-US" sz="1800" dirty="0"/>
          </a:p>
        </p:txBody>
      </p:sp>
      <p:sp>
        <p:nvSpPr>
          <p:cNvPr id="7" name="columna items Dentro del alcance"/>
          <p:cNvSpPr txBox="1"/>
          <p:nvPr/>
        </p:nvSpPr>
        <p:spPr>
          <a:xfrm>
            <a:off x="777240" y="2240280"/>
            <a:ext cx="31089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Usuarios y acceso por roles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Flota: unidades, estado, km y horómetro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Clientes, solicitudes, cotizaciones y contratos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Programación de servicios sin conflictos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Inicio, cierre, uso e incidencias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Mantenimiento preventivo y correctivo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Almacén, compras, marketing y RRHH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Pagos, alertas, auditoría, reportes y portal del cliente</a:t>
            </a:r>
            <a:endParaRPr lang="en-US" sz="1400" dirty="0"/>
          </a:p>
        </p:txBody>
      </p:sp>
      <p:sp>
        <p:nvSpPr>
          <p:cNvPr id="8" name="columna Fuera del alcance"/>
          <p:cNvSpPr/>
          <p:nvPr/>
        </p:nvSpPr>
        <p:spPr>
          <a:xfrm>
            <a:off x="4297680" y="1325880"/>
            <a:ext cx="3520440" cy="4846320"/>
          </a:xfrm>
          <a:prstGeom prst="roundRect">
            <a:avLst>
              <a:gd name="adj" fmla="val 259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columna icono Fuera del alcance círculo"/>
          <p:cNvSpPr/>
          <p:nvPr/>
        </p:nvSpPr>
        <p:spPr>
          <a:xfrm>
            <a:off x="4526280" y="1508760"/>
            <a:ext cx="548640" cy="54864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10" name="columna icono Fuera del alcance 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954" y="1640434"/>
            <a:ext cx="285293" cy="285293"/>
          </a:xfrm>
          <a:prstGeom prst="rect">
            <a:avLst/>
          </a:prstGeom>
        </p:spPr>
      </p:pic>
      <p:sp>
        <p:nvSpPr>
          <p:cNvPr id="11" name="columna titulo Fuera del alcance"/>
          <p:cNvSpPr txBox="1"/>
          <p:nvPr/>
        </p:nvSpPr>
        <p:spPr>
          <a:xfrm>
            <a:off x="5212080" y="1508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Fuera del alcance</a:t>
            </a:r>
            <a:endParaRPr lang="en-US" sz="1800" dirty="0"/>
          </a:p>
        </p:txBody>
      </p:sp>
      <p:sp>
        <p:nvSpPr>
          <p:cNvPr id="12" name="columna items Fuera del alcance"/>
          <p:cNvSpPr txBox="1"/>
          <p:nvPr/>
        </p:nvSpPr>
        <p:spPr>
          <a:xfrm>
            <a:off x="4526280" y="2240280"/>
            <a:ext cx="31089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GPS, sensores o telemetría instalados en las unidades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Monitoreo automático en tiempo real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Facturación electrónica, contabilidad y planillas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Integración con sistemas de proveedores (EDI)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Pasarela de pagos en línea: no procesa cobros</a:t>
            </a:r>
            <a:endParaRPr lang="en-US" sz="1400" dirty="0"/>
          </a:p>
        </p:txBody>
      </p:sp>
      <p:sp>
        <p:nvSpPr>
          <p:cNvPr id="13" name="columna Limitaciones"/>
          <p:cNvSpPr/>
          <p:nvPr/>
        </p:nvSpPr>
        <p:spPr>
          <a:xfrm>
            <a:off x="8046720" y="1325880"/>
            <a:ext cx="3520440" cy="4846320"/>
          </a:xfrm>
          <a:prstGeom prst="roundRect">
            <a:avLst>
              <a:gd name="adj" fmla="val 259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4" name="columna icono Limitaciones círculo"/>
          <p:cNvSpPr/>
          <p:nvPr/>
        </p:nvSpPr>
        <p:spPr>
          <a:xfrm>
            <a:off x="8275320" y="150876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pic>
        <p:nvPicPr>
          <p:cNvPr id="15" name="columna icono Limitaciones 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6994" y="1640434"/>
            <a:ext cx="285293" cy="285293"/>
          </a:xfrm>
          <a:prstGeom prst="rect">
            <a:avLst/>
          </a:prstGeom>
        </p:spPr>
      </p:pic>
      <p:sp>
        <p:nvSpPr>
          <p:cNvPr id="16" name="columna titulo Limitaciones"/>
          <p:cNvSpPr txBox="1"/>
          <p:nvPr/>
        </p:nvSpPr>
        <p:spPr>
          <a:xfrm>
            <a:off x="8961120" y="1508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Limitaciones</a:t>
            </a:r>
            <a:endParaRPr lang="en-US" sz="1800" dirty="0"/>
          </a:p>
        </p:txBody>
      </p:sp>
      <p:sp>
        <p:nvSpPr>
          <p:cNvPr id="17" name="columna items Limitaciones"/>
          <p:cNvSpPr txBox="1"/>
          <p:nvPr/>
        </p:nvSpPr>
        <p:spPr>
          <a:xfrm>
            <a:off x="8275320" y="2240280"/>
            <a:ext cx="31089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 usan datos de demostración: falta validarlo con datos reales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hubo entrevistas ni encuestas reales a TRANSUR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Fechas y presupuesto son referenciales (académicos)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Depende de que el personal registre a tiempo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funcionales: 18 RF implementados</a:t>
            </a:r>
            <a:endParaRPr lang="en-US" sz="3000" dirty="0"/>
          </a:p>
        </p:txBody>
      </p:sp>
      <p:sp>
        <p:nvSpPr>
          <p:cNvPr id="3" name="grupo Acceso y seguridad"/>
          <p:cNvSpPr/>
          <p:nvPr/>
        </p:nvSpPr>
        <p:spPr>
          <a:xfrm>
            <a:off x="548640" y="1325880"/>
            <a:ext cx="3520440" cy="2423160"/>
          </a:xfrm>
          <a:prstGeom prst="roundRect">
            <a:avLst>
              <a:gd name="adj" fmla="val 377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" name="grupo titulo Acceso y seguridad"/>
          <p:cNvSpPr txBox="1"/>
          <p:nvPr/>
        </p:nvSpPr>
        <p:spPr>
          <a:xfrm>
            <a:off x="77724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4757"/>
                </a:solidFill>
              </a:rPr>
              <a:t>Acceso y seguridad</a:t>
            </a:r>
            <a:endParaRPr lang="en-US" sz="1600" dirty="0"/>
          </a:p>
        </p:txBody>
      </p:sp>
      <p:sp>
        <p:nvSpPr>
          <p:cNvPr id="5" name="grupo items Acceso y seguridad"/>
          <p:cNvSpPr txBox="1"/>
          <p:nvPr/>
        </p:nvSpPr>
        <p:spPr>
          <a:xfrm>
            <a:off x="777240" y="187452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A4757"/>
                </a:solidFill>
              </a:rPr>
              <a:t>RF001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Autenticación y cierre de sesión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A4757"/>
                </a:solidFill>
              </a:rPr>
              <a:t>RF002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Usuarios y roles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A4757"/>
                </a:solidFill>
              </a:rPr>
              <a:t>RF018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Historial de cambios (auditoría)</a:t>
            </a:r>
            <a:endParaRPr lang="en-US" sz="1400" dirty="0"/>
          </a:p>
        </p:txBody>
      </p:sp>
      <p:sp>
        <p:nvSpPr>
          <p:cNvPr id="6" name="grupo Flota y comercial"/>
          <p:cNvSpPr/>
          <p:nvPr/>
        </p:nvSpPr>
        <p:spPr>
          <a:xfrm>
            <a:off x="4343400" y="1325880"/>
            <a:ext cx="3520440" cy="2423160"/>
          </a:xfrm>
          <a:prstGeom prst="roundRect">
            <a:avLst>
              <a:gd name="adj" fmla="val 377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grupo titulo Flota y comercial"/>
          <p:cNvSpPr txBox="1"/>
          <p:nvPr/>
        </p:nvSpPr>
        <p:spPr>
          <a:xfrm>
            <a:off x="457200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8F"/>
                </a:solidFill>
              </a:rPr>
              <a:t>Flota y comercial</a:t>
            </a:r>
            <a:endParaRPr lang="en-US" sz="1600" dirty="0"/>
          </a:p>
        </p:txBody>
      </p:sp>
      <p:sp>
        <p:nvSpPr>
          <p:cNvPr id="8" name="grupo items Flota y comercial"/>
          <p:cNvSpPr txBox="1"/>
          <p:nvPr/>
        </p:nvSpPr>
        <p:spPr>
          <a:xfrm>
            <a:off x="4572000" y="187452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F6F8F"/>
                </a:solidFill>
              </a:rPr>
              <a:t>RF003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Gestión de flota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F6F8F"/>
                </a:solidFill>
              </a:rPr>
              <a:t>RF004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Disponibilidad de unidades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F6F8F"/>
                </a:solidFill>
              </a:rPr>
              <a:t>RF005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Gestión de clientes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F6F8F"/>
                </a:solidFill>
              </a:rPr>
              <a:t>RF006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Gestión de contratos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F6F8F"/>
                </a:solidFill>
              </a:rPr>
              <a:t>RF007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Registro de solicitudes</a:t>
            </a:r>
            <a:endParaRPr lang="en-US" sz="1400" dirty="0"/>
          </a:p>
        </p:txBody>
      </p:sp>
      <p:sp>
        <p:nvSpPr>
          <p:cNvPr id="9" name="grupo Operación"/>
          <p:cNvSpPr/>
          <p:nvPr/>
        </p:nvSpPr>
        <p:spPr>
          <a:xfrm>
            <a:off x="8138160" y="1325880"/>
            <a:ext cx="3520440" cy="2423160"/>
          </a:xfrm>
          <a:prstGeom prst="roundRect">
            <a:avLst>
              <a:gd name="adj" fmla="val 3774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0" name="grupo titulo Operación"/>
          <p:cNvSpPr txBox="1"/>
          <p:nvPr/>
        </p:nvSpPr>
        <p:spPr>
          <a:xfrm>
            <a:off x="836676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9A6A"/>
                </a:solidFill>
              </a:rPr>
              <a:t>Operación</a:t>
            </a:r>
            <a:endParaRPr lang="en-US" sz="1600" dirty="0"/>
          </a:p>
        </p:txBody>
      </p:sp>
      <p:sp>
        <p:nvSpPr>
          <p:cNvPr id="11" name="grupo items Operación"/>
          <p:cNvSpPr txBox="1"/>
          <p:nvPr/>
        </p:nvSpPr>
        <p:spPr>
          <a:xfrm>
            <a:off x="8366760" y="187452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4C9A6A"/>
                </a:solidFill>
              </a:rPr>
              <a:t>RF008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Programación de servicios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4C9A6A"/>
                </a:solidFill>
              </a:rPr>
              <a:t>RF009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Validación de conflictos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4C9A6A"/>
                </a:solidFill>
              </a:rPr>
              <a:t>RF010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Inicio y cierre de servicio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4C9A6A"/>
                </a:solidFill>
              </a:rPr>
              <a:t>RF011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Registro de incidencias</a:t>
            </a:r>
            <a:endParaRPr lang="en-US" sz="1400" dirty="0"/>
          </a:p>
        </p:txBody>
      </p:sp>
      <p:sp>
        <p:nvSpPr>
          <p:cNvPr id="12" name="grupo Mantenimiento"/>
          <p:cNvSpPr/>
          <p:nvPr/>
        </p:nvSpPr>
        <p:spPr>
          <a:xfrm>
            <a:off x="548640" y="3977640"/>
            <a:ext cx="3520440" cy="2194560"/>
          </a:xfrm>
          <a:prstGeom prst="roundRect">
            <a:avLst>
              <a:gd name="adj" fmla="val 416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grupo titulo Mantenimiento"/>
          <p:cNvSpPr txBox="1"/>
          <p:nvPr/>
        </p:nvSpPr>
        <p:spPr>
          <a:xfrm>
            <a:off x="777240" y="4114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</a:rPr>
              <a:t>Mantenimiento</a:t>
            </a:r>
            <a:endParaRPr lang="en-US" sz="1600" dirty="0"/>
          </a:p>
        </p:txBody>
      </p:sp>
      <p:sp>
        <p:nvSpPr>
          <p:cNvPr id="14" name="grupo items Mantenimiento"/>
          <p:cNvSpPr txBox="1"/>
          <p:nvPr/>
        </p:nvSpPr>
        <p:spPr>
          <a:xfrm>
            <a:off x="777240" y="4526280"/>
            <a:ext cx="3154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8553D"/>
                </a:solidFill>
              </a:rPr>
              <a:t>RF012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Plan preventivo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8553D"/>
                </a:solidFill>
              </a:rPr>
              <a:t>RF013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Órdenes de mantenimiento</a:t>
            </a:r>
            <a:endParaRPr lang="en-US" sz="1400" dirty="0"/>
          </a:p>
        </p:txBody>
      </p:sp>
      <p:sp>
        <p:nvSpPr>
          <p:cNvPr id="15" name="grupo Información"/>
          <p:cNvSpPr/>
          <p:nvPr/>
        </p:nvSpPr>
        <p:spPr>
          <a:xfrm>
            <a:off x="4343400" y="3977640"/>
            <a:ext cx="3520440" cy="2194560"/>
          </a:xfrm>
          <a:prstGeom prst="roundRect">
            <a:avLst>
              <a:gd name="adj" fmla="val 416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6" name="grupo titulo Información"/>
          <p:cNvSpPr txBox="1"/>
          <p:nvPr/>
        </p:nvSpPr>
        <p:spPr>
          <a:xfrm>
            <a:off x="4572000" y="4114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5CA5"/>
                </a:solidFill>
              </a:rPr>
              <a:t>Información</a:t>
            </a:r>
            <a:endParaRPr lang="en-US" sz="1600" dirty="0"/>
          </a:p>
        </p:txBody>
      </p:sp>
      <p:sp>
        <p:nvSpPr>
          <p:cNvPr id="17" name="grupo items Información"/>
          <p:cNvSpPr txBox="1"/>
          <p:nvPr/>
        </p:nvSpPr>
        <p:spPr>
          <a:xfrm>
            <a:off x="4572000" y="4526280"/>
            <a:ext cx="3154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6B5CA5"/>
                </a:solidFill>
              </a:rPr>
              <a:t>RF014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Alertas operativas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6B5CA5"/>
                </a:solidFill>
              </a:rPr>
              <a:t>RF015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Dashboard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6B5CA5"/>
                </a:solidFill>
              </a:rPr>
              <a:t>RF016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Reportes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6B5CA5"/>
                </a:solidFill>
              </a:rPr>
              <a:t>RF017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Exportación Excel / PDF</a:t>
            </a:r>
            <a:endParaRPr lang="en-US" sz="1400" dirty="0"/>
          </a:p>
        </p:txBody>
      </p:sp>
      <p:sp>
        <p:nvSpPr>
          <p:cNvPr id="18" name="ampliaciones"/>
          <p:cNvSpPr/>
          <p:nvPr/>
        </p:nvSpPr>
        <p:spPr>
          <a:xfrm>
            <a:off x="8138160" y="3977640"/>
            <a:ext cx="3520440" cy="2194560"/>
          </a:xfrm>
          <a:prstGeom prst="roundRect">
            <a:avLst>
              <a:gd name="adj" fmla="val 4167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9" name="ampliaciones texto"/>
          <p:cNvSpPr txBox="1"/>
          <p:nvPr/>
        </p:nvSpPr>
        <p:spPr>
          <a:xfrm>
            <a:off x="8366760" y="4114800"/>
            <a:ext cx="3108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AMPLIACIONES v3.0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Pagos y cobranzas (efectivo, transferencia, Yape, Plin, POS)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Importación de repuestos desde Excel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Respaldos automáticos de la BD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no funcionales: cómo debe comportarse</a:t>
            </a:r>
            <a:endParaRPr lang="en-US" sz="3000" dirty="0"/>
          </a:p>
        </p:txBody>
      </p:sp>
      <p:sp>
        <p:nvSpPr>
          <p:cNvPr id="3" name="rnf RNF001 Seguridad"/>
          <p:cNvSpPr/>
          <p:nvPr/>
        </p:nvSpPr>
        <p:spPr>
          <a:xfrm>
            <a:off x="548640" y="1325880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" name="rnf icono RNF001 Seguridad círculo"/>
          <p:cNvSpPr/>
          <p:nvPr/>
        </p:nvSpPr>
        <p:spPr>
          <a:xfrm>
            <a:off x="685800" y="1444752"/>
            <a:ext cx="603504" cy="603504"/>
          </a:xfrm>
          <a:prstGeom prst="ellipse">
            <a:avLst/>
          </a:prstGeom>
          <a:solidFill>
            <a:srgbClr val="2F6F8F"/>
          </a:solidFill>
          <a:ln w="12700">
            <a:solidFill>
              <a:srgbClr val="2F6F8F"/>
            </a:solidFill>
            <a:prstDash val="solid"/>
          </a:ln>
        </p:spPr>
      </p:sp>
      <p:pic>
        <p:nvPicPr>
          <p:cNvPr id="5" name="rnf icono RNF001 Seguridad 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641" y="1589593"/>
            <a:ext cx="313822" cy="313822"/>
          </a:xfrm>
          <a:prstGeom prst="rect">
            <a:avLst/>
          </a:prstGeom>
        </p:spPr>
      </p:pic>
      <p:sp>
        <p:nvSpPr>
          <p:cNvPr id="6" name="rnf texto RNF001 Seguridad"/>
          <p:cNvSpPr txBox="1"/>
          <p:nvPr/>
        </p:nvSpPr>
        <p:spPr>
          <a:xfrm>
            <a:off x="1463040" y="138074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RNF001 Seguridad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Acceso por roles, contraseñas cifradas (BCrypt), CSRF y JWT</a:t>
            </a:r>
            <a:endParaRPr lang="en-US" sz="1500" dirty="0"/>
          </a:p>
        </p:txBody>
      </p:sp>
      <p:sp>
        <p:nvSpPr>
          <p:cNvPr id="7" name="rnf RNF002 Desempeño"/>
          <p:cNvSpPr/>
          <p:nvPr/>
        </p:nvSpPr>
        <p:spPr>
          <a:xfrm>
            <a:off x="6217920" y="1325880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" name="rnf icono RNF002 Desempeño círculo"/>
          <p:cNvSpPr/>
          <p:nvPr/>
        </p:nvSpPr>
        <p:spPr>
          <a:xfrm>
            <a:off x="6355080" y="1444752"/>
            <a:ext cx="603504" cy="603504"/>
          </a:xfrm>
          <a:prstGeom prst="ellipse">
            <a:avLst/>
          </a:prstGeom>
          <a:solidFill>
            <a:srgbClr val="2F6F8F"/>
          </a:solidFill>
          <a:ln w="12700">
            <a:solidFill>
              <a:srgbClr val="2F6F8F"/>
            </a:solidFill>
            <a:prstDash val="solid"/>
          </a:ln>
        </p:spPr>
      </p:sp>
      <p:pic>
        <p:nvPicPr>
          <p:cNvPr id="9" name="rnf icono RNF002 Desempeño 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921" y="1589593"/>
            <a:ext cx="313822" cy="313822"/>
          </a:xfrm>
          <a:prstGeom prst="rect">
            <a:avLst/>
          </a:prstGeom>
        </p:spPr>
      </p:pic>
      <p:sp>
        <p:nvSpPr>
          <p:cNvPr id="10" name="rnf texto RNF002 Desempeño"/>
          <p:cNvSpPr txBox="1"/>
          <p:nvPr/>
        </p:nvSpPr>
        <p:spPr>
          <a:xfrm>
            <a:off x="7132320" y="138074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RNF002 Desempeño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Meta: 95 % de operaciones en 3 s o menos</a:t>
            </a:r>
            <a:endParaRPr lang="en-US" sz="1500" dirty="0"/>
          </a:p>
        </p:txBody>
      </p:sp>
      <p:sp>
        <p:nvSpPr>
          <p:cNvPr id="11" name="rnf RNF003 Disponibilidad"/>
          <p:cNvSpPr/>
          <p:nvPr/>
        </p:nvSpPr>
        <p:spPr>
          <a:xfrm>
            <a:off x="548640" y="2304288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" name="rnf icono RNF003 Disponibilidad círculo"/>
          <p:cNvSpPr/>
          <p:nvPr/>
        </p:nvSpPr>
        <p:spPr>
          <a:xfrm>
            <a:off x="685800" y="2423160"/>
            <a:ext cx="603504" cy="603504"/>
          </a:xfrm>
          <a:prstGeom prst="ellipse">
            <a:avLst/>
          </a:prstGeom>
          <a:solidFill>
            <a:srgbClr val="4C9A6A"/>
          </a:solidFill>
          <a:ln w="12700">
            <a:solidFill>
              <a:srgbClr val="4C9A6A"/>
            </a:solidFill>
            <a:prstDash val="solid"/>
          </a:ln>
        </p:spPr>
      </p:sp>
      <p:pic>
        <p:nvPicPr>
          <p:cNvPr id="13" name="rnf icono RNF003 Disponibilidad 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41" y="2568001"/>
            <a:ext cx="313822" cy="313822"/>
          </a:xfrm>
          <a:prstGeom prst="rect">
            <a:avLst/>
          </a:prstGeom>
        </p:spPr>
      </p:pic>
      <p:sp>
        <p:nvSpPr>
          <p:cNvPr id="14" name="rnf texto RNF003 Disponibilidad"/>
          <p:cNvSpPr txBox="1"/>
          <p:nvPr/>
        </p:nvSpPr>
        <p:spPr>
          <a:xfrm>
            <a:off x="1463040" y="235915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RNF003 Disponibilidad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Meta: disponible en toda la jornada operativa</a:t>
            </a:r>
            <a:endParaRPr lang="en-US" sz="1500" dirty="0"/>
          </a:p>
        </p:txBody>
      </p:sp>
      <p:sp>
        <p:nvSpPr>
          <p:cNvPr id="15" name="rnf RNF004 Compatibilidad"/>
          <p:cNvSpPr/>
          <p:nvPr/>
        </p:nvSpPr>
        <p:spPr>
          <a:xfrm>
            <a:off x="6217920" y="2304288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6" name="rnf icono RNF004 Compatibilidad círculo"/>
          <p:cNvSpPr/>
          <p:nvPr/>
        </p:nvSpPr>
        <p:spPr>
          <a:xfrm>
            <a:off x="6355080" y="2423160"/>
            <a:ext cx="603504" cy="603504"/>
          </a:xfrm>
          <a:prstGeom prst="ellipse">
            <a:avLst/>
          </a:prstGeom>
          <a:solidFill>
            <a:srgbClr val="4C9A6A"/>
          </a:solidFill>
          <a:ln w="12700">
            <a:solidFill>
              <a:srgbClr val="4C9A6A"/>
            </a:solidFill>
            <a:prstDash val="solid"/>
          </a:ln>
        </p:spPr>
      </p:sp>
      <p:pic>
        <p:nvPicPr>
          <p:cNvPr id="17" name="rnf icono RNF004 Compatibilidad i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921" y="2568001"/>
            <a:ext cx="313822" cy="313822"/>
          </a:xfrm>
          <a:prstGeom prst="rect">
            <a:avLst/>
          </a:prstGeom>
        </p:spPr>
      </p:pic>
      <p:sp>
        <p:nvSpPr>
          <p:cNvPr id="18" name="rnf texto RNF004 Compatibilidad"/>
          <p:cNvSpPr txBox="1"/>
          <p:nvPr/>
        </p:nvSpPr>
        <p:spPr>
          <a:xfrm>
            <a:off x="7132320" y="235915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RNF004 Compatibilidad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Meta: Chrome, Edge y Firefox (probado en Chromium)</a:t>
            </a:r>
            <a:endParaRPr lang="en-US" sz="1500" dirty="0"/>
          </a:p>
        </p:txBody>
      </p:sp>
      <p:sp>
        <p:nvSpPr>
          <p:cNvPr id="19" name="rnf RNF005 Usabilidad"/>
          <p:cNvSpPr/>
          <p:nvPr/>
        </p:nvSpPr>
        <p:spPr>
          <a:xfrm>
            <a:off x="548640" y="3282696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0" name="rnf icono RNF005 Usabilidad círculo"/>
          <p:cNvSpPr/>
          <p:nvPr/>
        </p:nvSpPr>
        <p:spPr>
          <a:xfrm>
            <a:off x="685800" y="3401568"/>
            <a:ext cx="603504" cy="603504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21" name="rnf icono RNF005 Usabilidad i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641" y="3546409"/>
            <a:ext cx="313822" cy="313822"/>
          </a:xfrm>
          <a:prstGeom prst="rect">
            <a:avLst/>
          </a:prstGeom>
        </p:spPr>
      </p:pic>
      <p:sp>
        <p:nvSpPr>
          <p:cNvPr id="22" name="rnf texto RNF005 Usabilidad"/>
          <p:cNvSpPr txBox="1"/>
          <p:nvPr/>
        </p:nvSpPr>
        <p:spPr>
          <a:xfrm>
            <a:off x="1463040" y="33375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RNF005 Usabilidad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Interfaz clara y consistente, mensajes visibles</a:t>
            </a:r>
            <a:endParaRPr lang="en-US" sz="1500" dirty="0"/>
          </a:p>
        </p:txBody>
      </p:sp>
      <p:sp>
        <p:nvSpPr>
          <p:cNvPr id="23" name="rnf RNF006 Integridad"/>
          <p:cNvSpPr/>
          <p:nvPr/>
        </p:nvSpPr>
        <p:spPr>
          <a:xfrm>
            <a:off x="6217920" y="3282696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4" name="rnf icono RNF006 Integridad círculo"/>
          <p:cNvSpPr/>
          <p:nvPr/>
        </p:nvSpPr>
        <p:spPr>
          <a:xfrm>
            <a:off x="6355080" y="3401568"/>
            <a:ext cx="603504" cy="603504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25" name="rnf icono RNF006 Integridad icono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9921" y="3546409"/>
            <a:ext cx="313822" cy="313822"/>
          </a:xfrm>
          <a:prstGeom prst="rect">
            <a:avLst/>
          </a:prstGeom>
        </p:spPr>
      </p:pic>
      <p:sp>
        <p:nvSpPr>
          <p:cNvPr id="26" name="rnf texto RNF006 Integridad"/>
          <p:cNvSpPr txBox="1"/>
          <p:nvPr/>
        </p:nvSpPr>
        <p:spPr>
          <a:xfrm>
            <a:off x="7132320" y="333756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RNF006 Integridad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Claves, relaciones y restricciones en PostgreSQL</a:t>
            </a:r>
            <a:endParaRPr lang="en-US" sz="1500" dirty="0"/>
          </a:p>
        </p:txBody>
      </p:sp>
      <p:sp>
        <p:nvSpPr>
          <p:cNvPr id="27" name="rnf RNF007 Respaldo"/>
          <p:cNvSpPr/>
          <p:nvPr/>
        </p:nvSpPr>
        <p:spPr>
          <a:xfrm>
            <a:off x="548640" y="4261104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8" name="rnf icono RNF007 Respaldo círculo"/>
          <p:cNvSpPr/>
          <p:nvPr/>
        </p:nvSpPr>
        <p:spPr>
          <a:xfrm>
            <a:off x="685800" y="4379976"/>
            <a:ext cx="603504" cy="603504"/>
          </a:xfrm>
          <a:prstGeom prst="ellipse">
            <a:avLst/>
          </a:prstGeom>
          <a:solidFill>
            <a:srgbClr val="6B5CA5"/>
          </a:solidFill>
          <a:ln w="12700">
            <a:solidFill>
              <a:srgbClr val="6B5CA5"/>
            </a:solidFill>
            <a:prstDash val="solid"/>
          </a:ln>
        </p:spPr>
      </p:sp>
      <p:pic>
        <p:nvPicPr>
          <p:cNvPr id="29" name="rnf icono RNF007 Respaldo icono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641" y="4524817"/>
            <a:ext cx="313822" cy="313822"/>
          </a:xfrm>
          <a:prstGeom prst="rect">
            <a:avLst/>
          </a:prstGeom>
        </p:spPr>
      </p:pic>
      <p:sp>
        <p:nvSpPr>
          <p:cNvPr id="30" name="rnf texto RNF007 Respaldo"/>
          <p:cNvSpPr txBox="1"/>
          <p:nvPr/>
        </p:nvSpPr>
        <p:spPr>
          <a:xfrm>
            <a:off x="1463040" y="431596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RNF007 Respaldo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Copia diaria de la base de datos (02:00)</a:t>
            </a:r>
            <a:endParaRPr lang="en-US" sz="1500" dirty="0"/>
          </a:p>
        </p:txBody>
      </p:sp>
      <p:sp>
        <p:nvSpPr>
          <p:cNvPr id="31" name="rnf RNF008 Auditabilidad"/>
          <p:cNvSpPr/>
          <p:nvPr/>
        </p:nvSpPr>
        <p:spPr>
          <a:xfrm>
            <a:off x="6217920" y="4261104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2" name="rnf icono RNF008 Auditabilidad círculo"/>
          <p:cNvSpPr/>
          <p:nvPr/>
        </p:nvSpPr>
        <p:spPr>
          <a:xfrm>
            <a:off x="6355080" y="4379976"/>
            <a:ext cx="603504" cy="603504"/>
          </a:xfrm>
          <a:prstGeom prst="ellipse">
            <a:avLst/>
          </a:prstGeom>
          <a:solidFill>
            <a:srgbClr val="6B5CA5"/>
          </a:solidFill>
          <a:ln w="12700">
            <a:solidFill>
              <a:srgbClr val="6B5CA5"/>
            </a:solidFill>
            <a:prstDash val="solid"/>
          </a:ln>
        </p:spPr>
      </p:sp>
      <p:pic>
        <p:nvPicPr>
          <p:cNvPr id="33" name="rnf icono RNF008 Auditabilidad icono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9921" y="4524817"/>
            <a:ext cx="313822" cy="313822"/>
          </a:xfrm>
          <a:prstGeom prst="rect">
            <a:avLst/>
          </a:prstGeom>
        </p:spPr>
      </p:pic>
      <p:sp>
        <p:nvSpPr>
          <p:cNvPr id="34" name="rnf texto RNF008 Auditabilidad"/>
          <p:cNvSpPr txBox="1"/>
          <p:nvPr/>
        </p:nvSpPr>
        <p:spPr>
          <a:xfrm>
            <a:off x="7132320" y="431596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RNF008 Auditabilidad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Quién, cuándo, qué módulo y qué cambió</a:t>
            </a:r>
            <a:endParaRPr lang="en-US" sz="1500" dirty="0"/>
          </a:p>
        </p:txBody>
      </p:sp>
      <p:sp>
        <p:nvSpPr>
          <p:cNvPr id="35" name="rnf RNF009 Mantenibilidad"/>
          <p:cNvSpPr/>
          <p:nvPr/>
        </p:nvSpPr>
        <p:spPr>
          <a:xfrm>
            <a:off x="548640" y="5239512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36" name="rnf icono RNF009 Mantenibilidad círculo"/>
          <p:cNvSpPr/>
          <p:nvPr/>
        </p:nvSpPr>
        <p:spPr>
          <a:xfrm>
            <a:off x="685800" y="5358384"/>
            <a:ext cx="603504" cy="603504"/>
          </a:xfrm>
          <a:prstGeom prst="ellipse">
            <a:avLst/>
          </a:prstGeom>
          <a:solidFill>
            <a:srgbClr val="3A4757"/>
          </a:solidFill>
          <a:ln w="12700">
            <a:solidFill>
              <a:srgbClr val="3A4757"/>
            </a:solidFill>
            <a:prstDash val="solid"/>
          </a:ln>
        </p:spPr>
      </p:sp>
      <p:pic>
        <p:nvPicPr>
          <p:cNvPr id="37" name="rnf icono RNF009 Mantenibilidad icono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641" y="5503225"/>
            <a:ext cx="313822" cy="313822"/>
          </a:xfrm>
          <a:prstGeom prst="rect">
            <a:avLst/>
          </a:prstGeom>
        </p:spPr>
      </p:pic>
      <p:sp>
        <p:nvSpPr>
          <p:cNvPr id="38" name="rnf texto RNF009 Mantenibilidad"/>
          <p:cNvSpPr txBox="1"/>
          <p:nvPr/>
        </p:nvSpPr>
        <p:spPr>
          <a:xfrm>
            <a:off x="1463040" y="529437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RNF009 Mantenibilidad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Capas, módulos, Git y documentación técnica</a:t>
            </a:r>
            <a:endParaRPr lang="en-US" sz="1500" dirty="0"/>
          </a:p>
        </p:txBody>
      </p:sp>
      <p:sp>
        <p:nvSpPr>
          <p:cNvPr id="39" name="rnf RNF010 Escalabilidad"/>
          <p:cNvSpPr/>
          <p:nvPr/>
        </p:nvSpPr>
        <p:spPr>
          <a:xfrm>
            <a:off x="6217920" y="5239512"/>
            <a:ext cx="5440680" cy="841248"/>
          </a:xfrm>
          <a:prstGeom prst="roundRect">
            <a:avLst>
              <a:gd name="adj" fmla="val 1087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40" name="rnf icono RNF010 Escalabilidad círculo"/>
          <p:cNvSpPr/>
          <p:nvPr/>
        </p:nvSpPr>
        <p:spPr>
          <a:xfrm>
            <a:off x="6355080" y="5358384"/>
            <a:ext cx="603504" cy="603504"/>
          </a:xfrm>
          <a:prstGeom prst="ellipse">
            <a:avLst/>
          </a:prstGeom>
          <a:solidFill>
            <a:srgbClr val="3A4757"/>
          </a:solidFill>
          <a:ln w="12700">
            <a:solidFill>
              <a:srgbClr val="3A4757"/>
            </a:solidFill>
            <a:prstDash val="solid"/>
          </a:ln>
        </p:spPr>
      </p:sp>
      <p:pic>
        <p:nvPicPr>
          <p:cNvPr id="41" name="rnf icono RNF010 Escalabilidad icono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9921" y="5503225"/>
            <a:ext cx="313822" cy="313822"/>
          </a:xfrm>
          <a:prstGeom prst="rect">
            <a:avLst/>
          </a:prstGeom>
        </p:spPr>
      </p:pic>
      <p:sp>
        <p:nvSpPr>
          <p:cNvPr id="42" name="rnf texto RNF010 Escalabilidad"/>
          <p:cNvSpPr txBox="1"/>
          <p:nvPr/>
        </p:nvSpPr>
        <p:spPr>
          <a:xfrm>
            <a:off x="7132320" y="529437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RNF010 Escalabilidad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Agregar módulos sin rehacer los existentes</a:t>
            </a:r>
            <a:endParaRPr lang="en-US" sz="1500" dirty="0"/>
          </a:p>
        </p:txBody>
      </p:sp>
      <p:sp>
        <p:nvSpPr>
          <p:cNvPr id="43" name="nota rnf"/>
          <p:cNvSpPr txBox="1"/>
          <p:nvPr/>
        </p:nvSpPr>
        <p:spPr>
          <a:xfrm>
            <a:off x="548640" y="61081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Metas definidas en el SRS. Desempeño, disponibilidad y compatibilidad aún no se midieron: el prototipo se ejecuta en local.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en capas y tecnologías</a:t>
            </a:r>
            <a:endParaRPr lang="en-US" sz="3000" dirty="0"/>
          </a:p>
        </p:txBody>
      </p:sp>
      <p:sp>
        <p:nvSpPr>
          <p:cNvPr id="3" name="capa Vista"/>
          <p:cNvSpPr/>
          <p:nvPr/>
        </p:nvSpPr>
        <p:spPr>
          <a:xfrm>
            <a:off x="548640" y="1325880"/>
            <a:ext cx="6035040" cy="676656"/>
          </a:xfrm>
          <a:prstGeom prst="roundRect">
            <a:avLst>
              <a:gd name="adj" fmla="val 10811"/>
            </a:avLst>
          </a:prstGeom>
          <a:solidFill>
            <a:srgbClr val="2F6F8F"/>
          </a:solidFill>
          <a:ln w="12700">
            <a:solidFill>
              <a:srgbClr val="2F6F8F"/>
            </a:solidFill>
            <a:prstDash val="solid"/>
          </a:ln>
        </p:spPr>
      </p:sp>
      <p:sp>
        <p:nvSpPr>
          <p:cNvPr id="4" name="capa texto Vista"/>
          <p:cNvSpPr txBox="1"/>
          <p:nvPr/>
        </p:nvSpPr>
        <p:spPr>
          <a:xfrm>
            <a:off x="777240" y="1325880"/>
            <a:ext cx="5669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Vista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   Thymeleaf · Bootstrap 5 · Leaflet</a:t>
            </a:r>
            <a:endParaRPr lang="en-US" sz="1600" dirty="0"/>
          </a:p>
        </p:txBody>
      </p:sp>
      <p:sp>
        <p:nvSpPr>
          <p:cNvPr id="5" name="capa Seguridad"/>
          <p:cNvSpPr/>
          <p:nvPr/>
        </p:nvSpPr>
        <p:spPr>
          <a:xfrm>
            <a:off x="548640" y="2130552"/>
            <a:ext cx="6035040" cy="676656"/>
          </a:xfrm>
          <a:prstGeom prst="roundRect">
            <a:avLst>
              <a:gd name="adj" fmla="val 10811"/>
            </a:avLst>
          </a:prstGeom>
          <a:solidFill>
            <a:srgbClr val="3A4757"/>
          </a:solidFill>
          <a:ln w="12700">
            <a:solidFill>
              <a:srgbClr val="3A4757"/>
            </a:solidFill>
            <a:prstDash val="solid"/>
          </a:ln>
        </p:spPr>
      </p:sp>
      <p:sp>
        <p:nvSpPr>
          <p:cNvPr id="6" name="capa texto Seguridad"/>
          <p:cNvSpPr txBox="1"/>
          <p:nvPr/>
        </p:nvSpPr>
        <p:spPr>
          <a:xfrm>
            <a:off x="777240" y="2130552"/>
            <a:ext cx="5669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Seguridad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   Spring Security · BCrypt · CSRF · JWT</a:t>
            </a:r>
            <a:endParaRPr lang="en-US" sz="1600" dirty="0"/>
          </a:p>
        </p:txBody>
      </p:sp>
      <p:sp>
        <p:nvSpPr>
          <p:cNvPr id="7" name="capa Controlador"/>
          <p:cNvSpPr/>
          <p:nvPr/>
        </p:nvSpPr>
        <p:spPr>
          <a:xfrm>
            <a:off x="548640" y="2935224"/>
            <a:ext cx="6035040" cy="676656"/>
          </a:xfrm>
          <a:prstGeom prst="roundRect">
            <a:avLst>
              <a:gd name="adj" fmla="val 10811"/>
            </a:avLst>
          </a:prstGeom>
          <a:solidFill>
            <a:srgbClr val="6B5CA5"/>
          </a:solidFill>
          <a:ln w="12700">
            <a:solidFill>
              <a:srgbClr val="6B5CA5"/>
            </a:solidFill>
            <a:prstDash val="solid"/>
          </a:ln>
        </p:spPr>
      </p:sp>
      <p:sp>
        <p:nvSpPr>
          <p:cNvPr id="8" name="capa texto Controlador"/>
          <p:cNvSpPr txBox="1"/>
          <p:nvPr/>
        </p:nvSpPr>
        <p:spPr>
          <a:xfrm>
            <a:off x="777240" y="2935224"/>
            <a:ext cx="5669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Controlador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   Spring MVC · API REST con DTO</a:t>
            </a:r>
            <a:endParaRPr lang="en-US" sz="1600" dirty="0"/>
          </a:p>
        </p:txBody>
      </p:sp>
      <p:sp>
        <p:nvSpPr>
          <p:cNvPr id="9" name="capa Servicio"/>
          <p:cNvSpPr/>
          <p:nvPr/>
        </p:nvSpPr>
        <p:spPr>
          <a:xfrm>
            <a:off x="548640" y="3739896"/>
            <a:ext cx="6035040" cy="676656"/>
          </a:xfrm>
          <a:prstGeom prst="roundRect">
            <a:avLst>
              <a:gd name="adj" fmla="val 10811"/>
            </a:avLst>
          </a:prstGeom>
          <a:solidFill>
            <a:srgbClr val="4C9A6A"/>
          </a:solidFill>
          <a:ln w="12700">
            <a:solidFill>
              <a:srgbClr val="4C9A6A"/>
            </a:solidFill>
            <a:prstDash val="solid"/>
          </a:ln>
        </p:spPr>
      </p:sp>
      <p:sp>
        <p:nvSpPr>
          <p:cNvPr id="10" name="capa texto Servicio"/>
          <p:cNvSpPr txBox="1"/>
          <p:nvPr/>
        </p:nvSpPr>
        <p:spPr>
          <a:xfrm>
            <a:off x="777240" y="3739896"/>
            <a:ext cx="5669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Servicio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   Reglas de negocio · transacciones</a:t>
            </a:r>
            <a:endParaRPr lang="en-US" sz="1600" dirty="0"/>
          </a:p>
        </p:txBody>
      </p:sp>
      <p:sp>
        <p:nvSpPr>
          <p:cNvPr id="11" name="capa Acceso a datos (DAO)"/>
          <p:cNvSpPr/>
          <p:nvPr/>
        </p:nvSpPr>
        <p:spPr>
          <a:xfrm>
            <a:off x="548640" y="4544568"/>
            <a:ext cx="6035040" cy="676656"/>
          </a:xfrm>
          <a:prstGeom prst="roundRect">
            <a:avLst>
              <a:gd name="adj" fmla="val 10811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2" name="capa texto Acceso a datos (DAO)"/>
          <p:cNvSpPr txBox="1"/>
          <p:nvPr/>
        </p:nvSpPr>
        <p:spPr>
          <a:xfrm>
            <a:off x="777240" y="4544568"/>
            <a:ext cx="5669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Acceso a datos (DAO)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   Spring Data JPA · DAO JDBC</a:t>
            </a:r>
            <a:endParaRPr lang="en-US" sz="1600" dirty="0"/>
          </a:p>
        </p:txBody>
      </p:sp>
      <p:sp>
        <p:nvSpPr>
          <p:cNvPr id="13" name="capa Base de datos"/>
          <p:cNvSpPr/>
          <p:nvPr/>
        </p:nvSpPr>
        <p:spPr>
          <a:xfrm>
            <a:off x="548640" y="5349240"/>
            <a:ext cx="6035040" cy="676656"/>
          </a:xfrm>
          <a:prstGeom prst="roundRect">
            <a:avLst>
              <a:gd name="adj" fmla="val 10811"/>
            </a:avLst>
          </a:prstGeom>
          <a:solidFill>
            <a:srgbClr val="1B2430"/>
          </a:solidFill>
          <a:ln w="12700">
            <a:solidFill>
              <a:srgbClr val="1B2430"/>
            </a:solidFill>
            <a:prstDash val="solid"/>
          </a:ln>
        </p:spPr>
      </p:sp>
      <p:sp>
        <p:nvSpPr>
          <p:cNvPr id="14" name="capa texto Base de datos"/>
          <p:cNvSpPr txBox="1"/>
          <p:nvPr/>
        </p:nvSpPr>
        <p:spPr>
          <a:xfrm>
            <a:off x="777240" y="5349240"/>
            <a:ext cx="5669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Base de datos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   PostgreSQL 16 · 46 tablas</a:t>
            </a:r>
            <a:endParaRPr lang="en-US" sz="1600" dirty="0"/>
          </a:p>
        </p:txBody>
      </p:sp>
      <p:sp>
        <p:nvSpPr>
          <p:cNvPr id="15" name="stack"/>
          <p:cNvSpPr txBox="1"/>
          <p:nvPr/>
        </p:nvSpPr>
        <p:spPr>
          <a:xfrm>
            <a:off x="548640" y="61722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Java 21 · Spring Boot 3.2 · Maven · Monolito modular por área</a:t>
            </a:r>
            <a:endParaRPr lang="en-US" sz="1200" dirty="0"/>
          </a:p>
        </p:txBody>
      </p:sp>
      <p:sp>
        <p:nvSpPr>
          <p:cNvPr id="16" name="patrones titulo"/>
          <p:cNvSpPr txBox="1"/>
          <p:nvPr/>
        </p:nvSpPr>
        <p:spPr>
          <a:xfrm>
            <a:off x="7040880" y="1325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Patrones aplicados</a:t>
            </a:r>
            <a:endParaRPr lang="en-US" sz="1600" dirty="0"/>
          </a:p>
        </p:txBody>
      </p:sp>
      <p:sp>
        <p:nvSpPr>
          <p:cNvPr id="17" name="patron circulo MVC"/>
          <p:cNvSpPr/>
          <p:nvPr/>
        </p:nvSpPr>
        <p:spPr>
          <a:xfrm>
            <a:off x="7040880" y="17830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patron sigla MVC"/>
          <p:cNvSpPr txBox="1"/>
          <p:nvPr/>
        </p:nvSpPr>
        <p:spPr>
          <a:xfrm>
            <a:off x="704088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MVC</a:t>
            </a:r>
            <a:endParaRPr lang="en-US" sz="1300" dirty="0"/>
          </a:p>
        </p:txBody>
      </p:sp>
      <p:sp>
        <p:nvSpPr>
          <p:cNvPr id="19" name="patron texto MVC"/>
          <p:cNvSpPr txBox="1"/>
          <p:nvPr/>
        </p:nvSpPr>
        <p:spPr>
          <a:xfrm>
            <a:off x="7863840" y="178308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Vistas, controladores y modelo separados</a:t>
            </a:r>
            <a:endParaRPr lang="en-US" sz="1400" dirty="0"/>
          </a:p>
        </p:txBody>
      </p:sp>
      <p:sp>
        <p:nvSpPr>
          <p:cNvPr id="20" name="patron circulo DTO"/>
          <p:cNvSpPr/>
          <p:nvPr/>
        </p:nvSpPr>
        <p:spPr>
          <a:xfrm>
            <a:off x="7040880" y="26517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patron sigla DTO"/>
          <p:cNvSpPr txBox="1"/>
          <p:nvPr/>
        </p:nvSpPr>
        <p:spPr>
          <a:xfrm>
            <a:off x="7040880" y="2651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DTO</a:t>
            </a:r>
            <a:endParaRPr lang="en-US" sz="1300" dirty="0"/>
          </a:p>
        </p:txBody>
      </p:sp>
      <p:sp>
        <p:nvSpPr>
          <p:cNvPr id="22" name="patron texto DTO"/>
          <p:cNvSpPr txBox="1"/>
          <p:nvPr/>
        </p:nvSpPr>
        <p:spPr>
          <a:xfrm>
            <a:off x="7863840" y="26517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Datos de entrada validados; no se exponen entidades</a:t>
            </a:r>
            <a:endParaRPr lang="en-US" sz="1400" dirty="0"/>
          </a:p>
        </p:txBody>
      </p:sp>
      <p:sp>
        <p:nvSpPr>
          <p:cNvPr id="23" name="patron circulo DAO"/>
          <p:cNvSpPr/>
          <p:nvPr/>
        </p:nvSpPr>
        <p:spPr>
          <a:xfrm>
            <a:off x="7040880" y="35204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patron sigla DAO"/>
          <p:cNvSpPr txBox="1"/>
          <p:nvPr/>
        </p:nvSpPr>
        <p:spPr>
          <a:xfrm>
            <a:off x="7040880" y="3520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DAO</a:t>
            </a:r>
            <a:endParaRPr lang="en-US" sz="1300" dirty="0"/>
          </a:p>
        </p:txBody>
      </p:sp>
      <p:sp>
        <p:nvSpPr>
          <p:cNvPr id="25" name="patron texto DAO"/>
          <p:cNvSpPr txBox="1"/>
          <p:nvPr/>
        </p:nvSpPr>
        <p:spPr>
          <a:xfrm>
            <a:off x="7863840" y="35204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Repositorios JPA y DAO JDBC para reportes y auditoría</a:t>
            </a:r>
            <a:endParaRPr lang="en-US" sz="1400" dirty="0"/>
          </a:p>
        </p:txBody>
      </p:sp>
      <p:sp>
        <p:nvSpPr>
          <p:cNvPr id="26" name="patron circulo SOLID"/>
          <p:cNvSpPr/>
          <p:nvPr/>
        </p:nvSpPr>
        <p:spPr>
          <a:xfrm>
            <a:off x="7040880" y="43891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patron sigla SOLID"/>
          <p:cNvSpPr txBox="1"/>
          <p:nvPr/>
        </p:nvSpPr>
        <p:spPr>
          <a:xfrm>
            <a:off x="7040880" y="4389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SOLID</a:t>
            </a:r>
            <a:endParaRPr lang="en-US" sz="1100" dirty="0"/>
          </a:p>
        </p:txBody>
      </p:sp>
      <p:sp>
        <p:nvSpPr>
          <p:cNvPr id="28" name="patron texto SOLID"/>
          <p:cNvSpPr txBox="1"/>
          <p:nvPr/>
        </p:nvSpPr>
        <p:spPr>
          <a:xfrm>
            <a:off x="7863840" y="43891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Ej.: ValidadorDisponibilidad y exportadores intercambiables</a:t>
            </a:r>
            <a:endParaRPr lang="en-US" sz="1400" dirty="0"/>
          </a:p>
        </p:txBody>
      </p:sp>
      <p:sp>
        <p:nvSpPr>
          <p:cNvPr id="29" name="patron circulo TDD"/>
          <p:cNvSpPr/>
          <p:nvPr/>
        </p:nvSpPr>
        <p:spPr>
          <a:xfrm>
            <a:off x="7040880" y="52578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patron sigla TDD"/>
          <p:cNvSpPr txBox="1"/>
          <p:nvPr/>
        </p:nvSpPr>
        <p:spPr>
          <a:xfrm>
            <a:off x="7040880" y="5257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TDD</a:t>
            </a:r>
            <a:endParaRPr lang="en-US" sz="1300" dirty="0"/>
          </a:p>
        </p:txBody>
      </p:sp>
      <p:sp>
        <p:nvSpPr>
          <p:cNvPr id="31" name="patron texto TDD"/>
          <p:cNvSpPr txBox="1"/>
          <p:nvPr/>
        </p:nvSpPr>
        <p:spPr>
          <a:xfrm>
            <a:off x="7863840" y="52578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63 pruebas automatizadas, todas correctas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funciona: del pedido del cliente al pago</a:t>
            </a:r>
            <a:endParaRPr lang="en-US" sz="3000" dirty="0"/>
          </a:p>
        </p:txBody>
      </p:sp>
      <p:pic>
        <p:nvPicPr>
          <p:cNvPr id="3" name="paso captura 1" descr="/tmp/claude-0/-home-user-Sigem-Proyect/d0cfea49-2aed-54b6-8bc8-7e1babbccb9a/scratchpad/ev/21-ventas-solicitud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1280160"/>
            <a:ext cx="2999232" cy="18745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pic>
      <p:sp>
        <p:nvSpPr>
          <p:cNvPr id="4" name="paso circulo 1"/>
          <p:cNvSpPr/>
          <p:nvPr/>
        </p:nvSpPr>
        <p:spPr>
          <a:xfrm>
            <a:off x="548640" y="326440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aso numero 1"/>
          <p:cNvSpPr txBox="1"/>
          <p:nvPr/>
        </p:nvSpPr>
        <p:spPr>
          <a:xfrm>
            <a:off x="548640" y="3264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paso texto 1"/>
          <p:cNvSpPr txBox="1"/>
          <p:nvPr/>
        </p:nvSpPr>
        <p:spPr>
          <a:xfrm>
            <a:off x="1051560" y="32186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cliente pide un servicio y Ventas lo recibe</a:t>
            </a:r>
            <a:endParaRPr lang="en-US" sz="1400" dirty="0"/>
          </a:p>
        </p:txBody>
      </p:sp>
      <p:pic>
        <p:nvPicPr>
          <p:cNvPr id="7" name="paso captura 2" descr="/tmp/claude-0/-home-user-Sigem-Proyect/d0cfea49-2aed-54b6-8bc8-7e1babbccb9a/scratchpad/ev/23-ventas-contrat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8284" y="1280160"/>
            <a:ext cx="2999232" cy="18745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pic>
      <p:sp>
        <p:nvSpPr>
          <p:cNvPr id="8" name="paso circulo 2"/>
          <p:cNvSpPr/>
          <p:nvPr/>
        </p:nvSpPr>
        <p:spPr>
          <a:xfrm>
            <a:off x="4297680" y="326440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paso numero 2"/>
          <p:cNvSpPr txBox="1"/>
          <p:nvPr/>
        </p:nvSpPr>
        <p:spPr>
          <a:xfrm>
            <a:off x="4297680" y="3264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paso texto 2"/>
          <p:cNvSpPr txBox="1"/>
          <p:nvPr/>
        </p:nvSpPr>
        <p:spPr>
          <a:xfrm>
            <a:off x="4800600" y="32186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Ventas cotiza y, al aprobarse, genera el contrato</a:t>
            </a:r>
            <a:endParaRPr lang="en-US" sz="1400" dirty="0"/>
          </a:p>
        </p:txBody>
      </p:sp>
      <p:pic>
        <p:nvPicPr>
          <p:cNvPr id="11" name="paso captura 3" descr="/tmp/claude-0/-home-user-Sigem-Proyect/d0cfea49-2aed-54b6-8bc8-7e1babbccb9a/scratchpad/ev/34-op-asignacion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7324" y="1280160"/>
            <a:ext cx="2999232" cy="18745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pic>
      <p:sp>
        <p:nvSpPr>
          <p:cNvPr id="12" name="paso circulo 3"/>
          <p:cNvSpPr/>
          <p:nvPr/>
        </p:nvSpPr>
        <p:spPr>
          <a:xfrm>
            <a:off x="8046720" y="326440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paso numero 3"/>
          <p:cNvSpPr txBox="1"/>
          <p:nvPr/>
        </p:nvSpPr>
        <p:spPr>
          <a:xfrm>
            <a:off x="8046720" y="32644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paso texto 3"/>
          <p:cNvSpPr txBox="1"/>
          <p:nvPr/>
        </p:nvSpPr>
        <p:spPr>
          <a:xfrm>
            <a:off x="8549640" y="32186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Operaciones asigna unidad y operador sin cruces</a:t>
            </a:r>
            <a:endParaRPr lang="en-US" sz="1400" dirty="0"/>
          </a:p>
        </p:txBody>
      </p:sp>
      <p:pic>
        <p:nvPicPr>
          <p:cNvPr id="15" name="paso captura 4" descr="/tmp/claude-0/-home-user-Sigem-Proyect/d0cfea49-2aed-54b6-8bc8-7e1babbccb9a/scratchpad/ev/35-op-ejecuc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" y="3840480"/>
            <a:ext cx="2999232" cy="18745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pic>
      <p:sp>
        <p:nvSpPr>
          <p:cNvPr id="16" name="paso circulo 4"/>
          <p:cNvSpPr/>
          <p:nvPr/>
        </p:nvSpPr>
        <p:spPr>
          <a:xfrm>
            <a:off x="548640" y="582472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paso numero 4"/>
          <p:cNvSpPr txBox="1"/>
          <p:nvPr/>
        </p:nvSpPr>
        <p:spPr>
          <a:xfrm>
            <a:off x="548640" y="5824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paso texto 4"/>
          <p:cNvSpPr txBox="1"/>
          <p:nvPr/>
        </p:nvSpPr>
        <p:spPr>
          <a:xfrm>
            <a:off x="1051560" y="57790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Inicio y cierre: SIGEM calcula horas y km</a:t>
            </a:r>
            <a:endParaRPr lang="en-US" sz="1400" dirty="0"/>
          </a:p>
        </p:txBody>
      </p:sp>
      <p:pic>
        <p:nvPicPr>
          <p:cNvPr id="19" name="paso captura 5" descr="/tmp/claude-0/-home-user-Sigem-Proyect/d0cfea49-2aed-54b6-8bc8-7e1babbccb9a/scratchpad/ev/39-op-plan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8284" y="3840480"/>
            <a:ext cx="2999232" cy="18745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pic>
      <p:sp>
        <p:nvSpPr>
          <p:cNvPr id="20" name="paso circulo 5"/>
          <p:cNvSpPr/>
          <p:nvPr/>
        </p:nvSpPr>
        <p:spPr>
          <a:xfrm>
            <a:off x="4297680" y="582472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paso numero 5"/>
          <p:cNvSpPr txBox="1"/>
          <p:nvPr/>
        </p:nvSpPr>
        <p:spPr>
          <a:xfrm>
            <a:off x="4297680" y="5824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paso texto 5"/>
          <p:cNvSpPr txBox="1"/>
          <p:nvPr/>
        </p:nvSpPr>
        <p:spPr>
          <a:xfrm>
            <a:off x="4800600" y="57790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Mantenimiento preventivo con alertas</a:t>
            </a:r>
            <a:endParaRPr lang="en-US" sz="1400" dirty="0"/>
          </a:p>
        </p:txBody>
      </p:sp>
      <p:pic>
        <p:nvPicPr>
          <p:cNvPr id="23" name="paso captura 6" descr="/tmp/claude-0/-home-user-Sigem-Proyect/d0cfea49-2aed-54b6-8bc8-7e1babbccb9a/scratchpad/ev3/97-ventas-pago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7324" y="3840480"/>
            <a:ext cx="2999232" cy="18745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pic>
      <p:sp>
        <p:nvSpPr>
          <p:cNvPr id="24" name="paso circulo 6"/>
          <p:cNvSpPr/>
          <p:nvPr/>
        </p:nvSpPr>
        <p:spPr>
          <a:xfrm>
            <a:off x="8046720" y="582472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paso numero 6"/>
          <p:cNvSpPr txBox="1"/>
          <p:nvPr/>
        </p:nvSpPr>
        <p:spPr>
          <a:xfrm>
            <a:off x="8046720" y="5824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6</a:t>
            </a:r>
            <a:endParaRPr lang="en-US" sz="1400" dirty="0"/>
          </a:p>
        </p:txBody>
      </p:sp>
      <p:sp>
        <p:nvSpPr>
          <p:cNvPr id="26" name="paso texto 6"/>
          <p:cNvSpPr txBox="1"/>
          <p:nvPr/>
        </p:nvSpPr>
        <p:spPr>
          <a:xfrm>
            <a:off x="8549640" y="57790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Pago registrado o validado y recibo PDF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código por dentro: cerrar un servicio (RF010)</a:t>
            </a:r>
            <a:endParaRPr lang="en-US" sz="3000" dirty="0"/>
          </a:p>
        </p:txBody>
      </p:sp>
      <p:sp>
        <p:nvSpPr>
          <p:cNvPr id="3" name="explicacion codigo"/>
          <p:cNvSpPr txBox="1"/>
          <p:nvPr/>
        </p:nvSpPr>
        <p:spPr>
          <a:xfrm>
            <a:off x="548640" y="10972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Recorrido real en el código cuando un operador registra el cierre: líneas tomadas del proyecto (… = líneas omitidas).</a:t>
            </a:r>
            <a:endParaRPr lang="en-US" sz="1400" dirty="0"/>
          </a:p>
        </p:txBody>
      </p:sp>
      <p:pic>
        <p:nvPicPr>
          <p:cNvPr id="4" name="pieza codigo 1" descr="/tmp/claude-0/-home-user-Sigem-Proyect/d0cfea49-2aed-54b6-8bc8-7e1babbccb9a/scratchpad/img4/k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722" y="1554480"/>
            <a:ext cx="5270515" cy="23317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pic>
      <p:pic>
        <p:nvPicPr>
          <p:cNvPr id="5" name="pieza codigo 2" descr="/tmp/claude-0/-home-user-Sigem-Proyect/d0cfea49-2aed-54b6-8bc8-7e1babbccb9a/scratchpad/img4/k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365" y="1554480"/>
            <a:ext cx="5387791" cy="23317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pic>
      <p:pic>
        <p:nvPicPr>
          <p:cNvPr id="6" name="pieza codigo 3" descr="/tmp/claude-0/-home-user-Sigem-Proyect/d0cfea49-2aed-54b6-8bc8-7e1babbccb9a/scratchpad/img4/k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23360"/>
            <a:ext cx="5440680" cy="1538203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pic>
      <p:pic>
        <p:nvPicPr>
          <p:cNvPr id="7" name="pieza codigo 4" descr="/tmp/claude-0/-home-user-Sigem-Proyect/d0cfea49-2aed-54b6-8bc8-7e1babbccb9a/scratchpad/img4/k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5874" y="4023360"/>
            <a:ext cx="4504773" cy="23317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 cierre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Cómo se desarrolló y qué logramos</a:t>
            </a:r>
            <a:endParaRPr lang="en-US" sz="3000" dirty="0"/>
          </a:p>
        </p:txBody>
      </p:sp>
      <p:sp>
        <p:nvSpPr>
          <p:cNvPr id="3" name="stat numero 0"/>
          <p:cNvSpPr txBox="1"/>
          <p:nvPr/>
        </p:nvSpPr>
        <p:spPr>
          <a:xfrm>
            <a:off x="640080" y="14173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18</a:t>
            </a:r>
            <a:endParaRPr lang="en-US" sz="5400" dirty="0"/>
          </a:p>
        </p:txBody>
      </p:sp>
      <p:sp>
        <p:nvSpPr>
          <p:cNvPr id="4" name="stat texto 0"/>
          <p:cNvSpPr txBox="1"/>
          <p:nvPr/>
        </p:nvSpPr>
        <p:spPr>
          <a:xfrm>
            <a:off x="64008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requisitos funcionales</a:t>
            </a:r>
            <a:endParaRPr lang="en-US" sz="1500" dirty="0"/>
          </a:p>
        </p:txBody>
      </p:sp>
      <p:sp>
        <p:nvSpPr>
          <p:cNvPr id="5" name="stat numero 1"/>
          <p:cNvSpPr txBox="1"/>
          <p:nvPr/>
        </p:nvSpPr>
        <p:spPr>
          <a:xfrm>
            <a:off x="3337560" y="14173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63</a:t>
            </a:r>
            <a:endParaRPr lang="en-US" sz="5400" dirty="0"/>
          </a:p>
        </p:txBody>
      </p:sp>
      <p:sp>
        <p:nvSpPr>
          <p:cNvPr id="6" name="stat texto 1"/>
          <p:cNvSpPr txBox="1"/>
          <p:nvPr/>
        </p:nvSpPr>
        <p:spPr>
          <a:xfrm>
            <a:off x="333756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pruebas automatizadas</a:t>
            </a:r>
            <a:endParaRPr lang="en-US" sz="1500" dirty="0"/>
          </a:p>
        </p:txBody>
      </p:sp>
      <p:sp>
        <p:nvSpPr>
          <p:cNvPr id="7" name="stat numero 2"/>
          <p:cNvSpPr txBox="1"/>
          <p:nvPr/>
        </p:nvSpPr>
        <p:spPr>
          <a:xfrm>
            <a:off x="640080" y="30175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46</a:t>
            </a:r>
            <a:endParaRPr lang="en-US" sz="5400" dirty="0"/>
          </a:p>
        </p:txBody>
      </p:sp>
      <p:sp>
        <p:nvSpPr>
          <p:cNvPr id="8" name="stat texto 2"/>
          <p:cNvSpPr txBox="1"/>
          <p:nvPr/>
        </p:nvSpPr>
        <p:spPr>
          <a:xfrm>
            <a:off x="64008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tablas en PostgreSQL</a:t>
            </a:r>
            <a:endParaRPr lang="en-US" sz="1500" dirty="0"/>
          </a:p>
        </p:txBody>
      </p:sp>
      <p:sp>
        <p:nvSpPr>
          <p:cNvPr id="9" name="stat numero 3"/>
          <p:cNvSpPr txBox="1"/>
          <p:nvPr/>
        </p:nvSpPr>
        <p:spPr>
          <a:xfrm>
            <a:off x="3337560" y="30175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8</a:t>
            </a:r>
            <a:endParaRPr lang="en-US" sz="5400" dirty="0"/>
          </a:p>
        </p:txBody>
      </p:sp>
      <p:sp>
        <p:nvSpPr>
          <p:cNvPr id="10" name="stat texto 3"/>
          <p:cNvSpPr txBox="1"/>
          <p:nvPr/>
        </p:nvSpPr>
        <p:spPr>
          <a:xfrm>
            <a:off x="333756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roles con su panel</a:t>
            </a:r>
            <a:endParaRPr lang="en-US" sz="1500" dirty="0"/>
          </a:p>
        </p:txBody>
      </p:sp>
      <p:sp>
        <p:nvSpPr>
          <p:cNvPr id="11" name="version v1.0"/>
          <p:cNvSpPr/>
          <p:nvPr/>
        </p:nvSpPr>
        <p:spPr>
          <a:xfrm>
            <a:off x="6217920" y="1417320"/>
            <a:ext cx="5349240" cy="960120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version texto v1.0"/>
          <p:cNvSpPr txBox="1"/>
          <p:nvPr/>
        </p:nvSpPr>
        <p:spPr>
          <a:xfrm>
            <a:off x="6446520" y="141732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v1.0  </a:t>
            </a:r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Análisis y diseño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BPMN, requisitos, casos de uso y prototipos (agosto–setiembre)</a:t>
            </a:r>
            <a:endParaRPr lang="en-US" sz="1800" dirty="0"/>
          </a:p>
        </p:txBody>
      </p:sp>
      <p:sp>
        <p:nvSpPr>
          <p:cNvPr id="13" name="version v2.0"/>
          <p:cNvSpPr/>
          <p:nvPr/>
        </p:nvSpPr>
        <p:spPr>
          <a:xfrm>
            <a:off x="6217920" y="2514600"/>
            <a:ext cx="5349240" cy="960120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version texto v2.0"/>
          <p:cNvSpPr txBox="1"/>
          <p:nvPr/>
        </p:nvSpPr>
        <p:spPr>
          <a:xfrm>
            <a:off x="6446520" y="251460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v2.0  </a:t>
            </a:r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Arquitectura y desarrollo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MVC, DTO, DAO, SOLID, TDD, seguridad y evidencias (setiembre–octubre)</a:t>
            </a:r>
            <a:endParaRPr lang="en-US" sz="1800" dirty="0"/>
          </a:p>
        </p:txBody>
      </p:sp>
      <p:sp>
        <p:nvSpPr>
          <p:cNvPr id="15" name="version v3.0"/>
          <p:cNvSpPr/>
          <p:nvPr/>
        </p:nvSpPr>
        <p:spPr>
          <a:xfrm>
            <a:off x="6217920" y="3611880"/>
            <a:ext cx="5349240" cy="960120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version texto v3.0"/>
          <p:cNvSpPr txBox="1"/>
          <p:nvPr/>
        </p:nvSpPr>
        <p:spPr>
          <a:xfrm>
            <a:off x="6446520" y="361188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v3.0  </a:t>
            </a:r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Ampliación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Pagos y cobranzas, importación Excel y respaldos (octubre)</a:t>
            </a:r>
            <a:endParaRPr lang="en-US" sz="1800" dirty="0"/>
          </a:p>
        </p:txBody>
      </p:sp>
      <p:sp>
        <p:nvSpPr>
          <p:cNvPr id="17" name="metodo"/>
          <p:cNvSpPr txBox="1"/>
          <p:nvPr/>
        </p:nvSpPr>
        <p:spPr>
          <a:xfrm>
            <a:off x="6217920" y="47548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Plan de 7 etapas (agosto–diciembre) · Git y GitHub con una rama por integrante</a:t>
            </a:r>
            <a:endParaRPr lang="en-US" sz="1300" dirty="0"/>
          </a:p>
        </p:txBody>
      </p:sp>
      <p:sp>
        <p:nvSpPr>
          <p:cNvPr id="18" name="siguiente paso"/>
          <p:cNvSpPr txBox="1"/>
          <p:nvPr/>
        </p:nvSpPr>
        <p:spPr>
          <a:xfrm>
            <a:off x="640080" y="5760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Pendiente: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validar con datos reales de TRANSUR y desplegar en un servidor. Hoy SIGEM se ejecuta en local con datos de demostración.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GEM Industrial">
  <a:themeElements>
    <a:clrScheme name="SIGEM Industrial">
      <a:dk1>
        <a:srgbClr val="1B2430"/>
      </a:dk1>
      <a:lt1>
        <a:srgbClr val="FFFFFF"/>
      </a:lt1>
      <a:dk2>
        <a:srgbClr val="3A4757"/>
      </a:dk2>
      <a:lt2>
        <a:srgbClr val="F3F5F8"/>
      </a:lt2>
      <a:accent1>
        <a:srgbClr val="F2A900"/>
      </a:accent1>
      <a:accent2>
        <a:srgbClr val="2F6F8F"/>
      </a:accent2>
      <a:accent3>
        <a:srgbClr val="4C9A6A"/>
      </a:accent3>
      <a:accent4>
        <a:srgbClr val="C8553D"/>
      </a:accent4>
      <a:accent5>
        <a:srgbClr val="8A97A6"/>
      </a:accent5>
      <a:accent6>
        <a:srgbClr val="6B5CA5"/>
      </a:accent6>
      <a:hlink>
        <a:srgbClr val="2F6F8F"/>
      </a:hlink>
      <a:folHlink>
        <a:srgbClr val="6B5CA5"/>
      </a:folHlink>
    </a:clrScheme>
    <a:fontScheme name="SIGEM Industri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Universidad Tecnológica del Perú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SIGEM — Presentación general del proyecto</dc:title>
  <dc:subject>PptxGenJS Presentation</dc:subject>
  <dc:creator>Grupo 2 — Curso Integrador I</dc:creator>
  <cp:lastModifiedBy>Grupo 2 — Curso Integrador I</cp:lastModifiedBy>
  <cp:revision>1</cp:revision>
  <dcterms:created xsi:type="dcterms:W3CDTF">2026-10-26T03:58:28Z</dcterms:created>
  <dcterms:modified xsi:type="dcterms:W3CDTF">2026-10-26T03:58:28Z</dcterms:modified>
</cp:coreProperties>
</file>